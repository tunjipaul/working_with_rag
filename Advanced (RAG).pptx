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Gotham Heavy" charset="1" panose="02000900000000000000"/>
      <p:regular r:id="rId30"/>
    </p:embeddedFont>
    <p:embeddedFont>
      <p:font typeface="Gotham Bold" charset="1" panose="00000000000000000000"/>
      <p:regular r:id="rId31"/>
    </p:embeddedFont>
    <p:embeddedFont>
      <p:font typeface="Gotham" charset="1" panose="00000000000000000000"/>
      <p:regular r:id="rId32"/>
    </p:embeddedFont>
    <p:embeddedFont>
      <p:font typeface="Gotham Light" charset="1" panose="000000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1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png" Type="http://schemas.openxmlformats.org/officeDocument/2006/relationships/image"/><Relationship Id="rId5" Target="../media/image2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4831044" y="6211596"/>
            <a:ext cx="8625913" cy="3046704"/>
            <a:chOff x="0" y="0"/>
            <a:chExt cx="11501217" cy="4062272"/>
          </a:xfrm>
        </p:grpSpPr>
        <p:sp>
          <p:nvSpPr>
            <p:cNvPr name="Freeform 3" id="3"/>
            <p:cNvSpPr/>
            <p:nvPr/>
          </p:nvSpPr>
          <p:spPr>
            <a:xfrm flipH="false" flipV="false" rot="0">
              <a:off x="8244083" y="814422"/>
              <a:ext cx="3257134" cy="2433429"/>
            </a:xfrm>
            <a:custGeom>
              <a:avLst/>
              <a:gdLst/>
              <a:ahLst/>
              <a:cxnLst/>
              <a:rect r="r" b="b" t="t" l="l"/>
              <a:pathLst>
                <a:path h="2433429" w="3257134">
                  <a:moveTo>
                    <a:pt x="0" y="0"/>
                  </a:moveTo>
                  <a:lnTo>
                    <a:pt x="3257134" y="0"/>
                  </a:lnTo>
                  <a:lnTo>
                    <a:pt x="3257134" y="2433429"/>
                  </a:lnTo>
                  <a:lnTo>
                    <a:pt x="0" y="2433429"/>
                  </a:lnTo>
                  <a:lnTo>
                    <a:pt x="0" y="0"/>
                  </a:lnTo>
                  <a:close/>
                </a:path>
              </a:pathLst>
            </a:custGeom>
            <a:blipFill>
              <a:blip r:embed="rId2">
                <a:alphaModFix amt="4590"/>
              </a:blip>
              <a:stretch>
                <a:fillRect l="-94411" t="0" r="-92934" b="-133205"/>
              </a:stretch>
            </a:blipFill>
          </p:spPr>
        </p:sp>
        <p:sp>
          <p:nvSpPr>
            <p:cNvPr name="Freeform 4" id="4"/>
            <p:cNvSpPr/>
            <p:nvPr/>
          </p:nvSpPr>
          <p:spPr>
            <a:xfrm flipH="false" flipV="false" rot="0">
              <a:off x="3037519" y="0"/>
              <a:ext cx="5437335" cy="4062272"/>
            </a:xfrm>
            <a:custGeom>
              <a:avLst/>
              <a:gdLst/>
              <a:ahLst/>
              <a:cxnLst/>
              <a:rect r="r" b="b" t="t" l="l"/>
              <a:pathLst>
                <a:path h="4062272" w="5437335">
                  <a:moveTo>
                    <a:pt x="0" y="0"/>
                  </a:moveTo>
                  <a:lnTo>
                    <a:pt x="5437335" y="0"/>
                  </a:lnTo>
                  <a:lnTo>
                    <a:pt x="5437335" y="4062272"/>
                  </a:lnTo>
                  <a:lnTo>
                    <a:pt x="0" y="4062272"/>
                  </a:lnTo>
                  <a:lnTo>
                    <a:pt x="0" y="0"/>
                  </a:lnTo>
                  <a:close/>
                </a:path>
              </a:pathLst>
            </a:custGeom>
            <a:blipFill>
              <a:blip r:embed="rId2">
                <a:alphaModFix amt="4590"/>
              </a:blip>
              <a:stretch>
                <a:fillRect l="-94411" t="0" r="-92934" b="-133205"/>
              </a:stretch>
            </a:blipFill>
          </p:spPr>
        </p:sp>
        <p:sp>
          <p:nvSpPr>
            <p:cNvPr name="Freeform 5" id="5"/>
            <p:cNvSpPr/>
            <p:nvPr/>
          </p:nvSpPr>
          <p:spPr>
            <a:xfrm flipH="false" flipV="false" rot="0">
              <a:off x="0" y="814422"/>
              <a:ext cx="3257134" cy="2433429"/>
            </a:xfrm>
            <a:custGeom>
              <a:avLst/>
              <a:gdLst/>
              <a:ahLst/>
              <a:cxnLst/>
              <a:rect r="r" b="b" t="t" l="l"/>
              <a:pathLst>
                <a:path h="2433429" w="3257134">
                  <a:moveTo>
                    <a:pt x="0" y="0"/>
                  </a:moveTo>
                  <a:lnTo>
                    <a:pt x="3257134" y="0"/>
                  </a:lnTo>
                  <a:lnTo>
                    <a:pt x="3257134" y="2433429"/>
                  </a:lnTo>
                  <a:lnTo>
                    <a:pt x="0" y="2433429"/>
                  </a:lnTo>
                  <a:lnTo>
                    <a:pt x="0" y="0"/>
                  </a:lnTo>
                  <a:close/>
                </a:path>
              </a:pathLst>
            </a:custGeom>
            <a:blipFill>
              <a:blip r:embed="rId2">
                <a:alphaModFix amt="4590"/>
              </a:blip>
              <a:stretch>
                <a:fillRect l="-94411" t="0" r="-92934" b="-133205"/>
              </a:stretch>
            </a:blipFill>
          </p:spPr>
        </p:sp>
      </p:grpSp>
      <p:grpSp>
        <p:nvGrpSpPr>
          <p:cNvPr name="Group 6" id="6"/>
          <p:cNvGrpSpPr/>
          <p:nvPr/>
        </p:nvGrpSpPr>
        <p:grpSpPr>
          <a:xfrm rot="0">
            <a:off x="2837813" y="5143500"/>
            <a:ext cx="13111026" cy="716309"/>
            <a:chOff x="0" y="0"/>
            <a:chExt cx="3453110" cy="188658"/>
          </a:xfrm>
        </p:grpSpPr>
        <p:sp>
          <p:nvSpPr>
            <p:cNvPr name="Freeform 7" id="7"/>
            <p:cNvSpPr/>
            <p:nvPr/>
          </p:nvSpPr>
          <p:spPr>
            <a:xfrm flipH="false" flipV="false" rot="0">
              <a:off x="0" y="0"/>
              <a:ext cx="3453110" cy="188658"/>
            </a:xfrm>
            <a:custGeom>
              <a:avLst/>
              <a:gdLst/>
              <a:ahLst/>
              <a:cxnLst/>
              <a:rect r="r" b="b" t="t" l="l"/>
              <a:pathLst>
                <a:path h="188658" w="3453110">
                  <a:moveTo>
                    <a:pt x="0" y="0"/>
                  </a:moveTo>
                  <a:lnTo>
                    <a:pt x="3453110" y="0"/>
                  </a:lnTo>
                  <a:lnTo>
                    <a:pt x="3453110" y="188658"/>
                  </a:lnTo>
                  <a:lnTo>
                    <a:pt x="0" y="188658"/>
                  </a:lnTo>
                  <a:close/>
                </a:path>
              </a:pathLst>
            </a:custGeom>
            <a:solidFill>
              <a:srgbClr val="387F7F"/>
            </a:solidFill>
          </p:spPr>
        </p:sp>
        <p:sp>
          <p:nvSpPr>
            <p:cNvPr name="TextBox 8" id="8"/>
            <p:cNvSpPr txBox="true"/>
            <p:nvPr/>
          </p:nvSpPr>
          <p:spPr>
            <a:xfrm>
              <a:off x="0" y="-28575"/>
              <a:ext cx="3453110" cy="217233"/>
            </a:xfrm>
            <a:prstGeom prst="rect">
              <a:avLst/>
            </a:prstGeom>
          </p:spPr>
          <p:txBody>
            <a:bodyPr anchor="ctr" rtlCol="false" tIns="50800" lIns="50800" bIns="50800" rIns="50800"/>
            <a:lstStyle/>
            <a:p>
              <a:pPr algn="ctr">
                <a:lnSpc>
                  <a:spcPts val="2380"/>
                </a:lnSpc>
              </a:pPr>
            </a:p>
          </p:txBody>
        </p:sp>
      </p:grpSp>
      <p:sp>
        <p:nvSpPr>
          <p:cNvPr name="AutoShape 9" id="9"/>
          <p:cNvSpPr/>
          <p:nvPr/>
        </p:nvSpPr>
        <p:spPr>
          <a:xfrm flipV="true">
            <a:off x="658579" y="9639120"/>
            <a:ext cx="13869951" cy="55245"/>
          </a:xfrm>
          <a:prstGeom prst="line">
            <a:avLst/>
          </a:prstGeom>
          <a:ln cap="flat" w="9525">
            <a:solidFill>
              <a:srgbClr val="000000"/>
            </a:solidFill>
            <a:prstDash val="solid"/>
            <a:headEnd type="none" len="sm" w="sm"/>
            <a:tailEnd type="none" len="sm" w="sm"/>
          </a:ln>
        </p:spPr>
      </p:sp>
      <p:sp>
        <p:nvSpPr>
          <p:cNvPr name="Freeform 10" id="10"/>
          <p:cNvSpPr/>
          <p:nvPr/>
        </p:nvSpPr>
        <p:spPr>
          <a:xfrm flipH="false" flipV="false" rot="0">
            <a:off x="8020988" y="729828"/>
            <a:ext cx="2246024" cy="1952409"/>
          </a:xfrm>
          <a:custGeom>
            <a:avLst/>
            <a:gdLst/>
            <a:ahLst/>
            <a:cxnLst/>
            <a:rect r="r" b="b" t="t" l="l"/>
            <a:pathLst>
              <a:path h="1952409" w="2246024">
                <a:moveTo>
                  <a:pt x="0" y="0"/>
                </a:moveTo>
                <a:lnTo>
                  <a:pt x="2246024" y="0"/>
                </a:lnTo>
                <a:lnTo>
                  <a:pt x="2246024" y="1952409"/>
                </a:lnTo>
                <a:lnTo>
                  <a:pt x="0" y="1952409"/>
                </a:lnTo>
                <a:lnTo>
                  <a:pt x="0" y="0"/>
                </a:lnTo>
                <a:close/>
              </a:path>
            </a:pathLst>
          </a:custGeom>
          <a:blipFill>
            <a:blip r:embed="rId3"/>
            <a:stretch>
              <a:fillRect l="0" t="0" r="0" b="0"/>
            </a:stretch>
          </a:blipFill>
        </p:spPr>
      </p:sp>
      <p:sp>
        <p:nvSpPr>
          <p:cNvPr name="TextBox 11" id="11"/>
          <p:cNvSpPr txBox="true"/>
          <p:nvPr/>
        </p:nvSpPr>
        <p:spPr>
          <a:xfrm rot="0">
            <a:off x="3099376" y="3698384"/>
            <a:ext cx="12089249" cy="1092691"/>
          </a:xfrm>
          <a:prstGeom prst="rect">
            <a:avLst/>
          </a:prstGeom>
        </p:spPr>
        <p:txBody>
          <a:bodyPr anchor="t" rtlCol="false" tIns="0" lIns="0" bIns="0" rIns="0">
            <a:spAutoFit/>
          </a:bodyPr>
          <a:lstStyle/>
          <a:p>
            <a:pPr algn="ctr">
              <a:lnSpc>
                <a:spcPts val="4351"/>
              </a:lnSpc>
              <a:spcBef>
                <a:spcPct val="0"/>
              </a:spcBef>
            </a:pPr>
            <a:r>
              <a:rPr lang="en-US" b="true" sz="3108" spc="115">
                <a:solidFill>
                  <a:srgbClr val="191919"/>
                </a:solidFill>
                <a:latin typeface="Gotham Heavy"/>
                <a:ea typeface="Gotham Heavy"/>
                <a:cs typeface="Gotham Heavy"/>
                <a:sym typeface="Gotham Heavy"/>
              </a:rPr>
              <a:t>ADVANCED RETRIEVAL AUGMENTED GENERATION (RAG) &amp; EVALUATION</a:t>
            </a:r>
          </a:p>
        </p:txBody>
      </p:sp>
      <p:sp>
        <p:nvSpPr>
          <p:cNvPr name="TextBox 12" id="12"/>
          <p:cNvSpPr txBox="true"/>
          <p:nvPr/>
        </p:nvSpPr>
        <p:spPr>
          <a:xfrm rot="0">
            <a:off x="3288188" y="5262668"/>
            <a:ext cx="12210274" cy="430348"/>
          </a:xfrm>
          <a:prstGeom prst="rect">
            <a:avLst/>
          </a:prstGeom>
        </p:spPr>
        <p:txBody>
          <a:bodyPr anchor="t" rtlCol="false" tIns="0" lIns="0" bIns="0" rIns="0">
            <a:spAutoFit/>
          </a:bodyPr>
          <a:lstStyle/>
          <a:p>
            <a:pPr algn="ctr">
              <a:lnSpc>
                <a:spcPts val="3578"/>
              </a:lnSpc>
              <a:spcBef>
                <a:spcPct val="0"/>
              </a:spcBef>
            </a:pPr>
            <a:r>
              <a:rPr lang="en-US" b="true" sz="2555">
                <a:solidFill>
                  <a:srgbClr val="FFFEFE"/>
                </a:solidFill>
                <a:latin typeface="Gotham Bold"/>
                <a:ea typeface="Gotham Bold"/>
                <a:cs typeface="Gotham Bold"/>
                <a:sym typeface="Gotham Bold"/>
              </a:rPr>
              <a:t>A practical course for intending and professional AI Developers</a:t>
            </a:r>
          </a:p>
        </p:txBody>
      </p:sp>
      <p:sp>
        <p:nvSpPr>
          <p:cNvPr name="TextBox 13" id="13"/>
          <p:cNvSpPr txBox="true"/>
          <p:nvPr/>
        </p:nvSpPr>
        <p:spPr>
          <a:xfrm rot="0">
            <a:off x="14687718" y="9278942"/>
            <a:ext cx="3286211" cy="415422"/>
          </a:xfrm>
          <a:prstGeom prst="rect">
            <a:avLst/>
          </a:prstGeom>
        </p:spPr>
        <p:txBody>
          <a:bodyPr anchor="t" rtlCol="false" tIns="0" lIns="0" bIns="0" rIns="0">
            <a:spAutoFit/>
          </a:bodyPr>
          <a:lstStyle/>
          <a:p>
            <a:pPr algn="l">
              <a:lnSpc>
                <a:spcPts val="1605"/>
              </a:lnSpc>
            </a:pPr>
            <a:r>
              <a:rPr lang="en-US" sz="1500">
                <a:solidFill>
                  <a:srgbClr val="191919"/>
                </a:solidFill>
                <a:latin typeface="Gotham"/>
                <a:ea typeface="Gotham"/>
                <a:cs typeface="Gotham"/>
                <a:sym typeface="Gotham"/>
              </a:rPr>
              <a:t>Yusuf Anigilaje</a:t>
            </a:r>
          </a:p>
          <a:p>
            <a:pPr algn="l">
              <a:lnSpc>
                <a:spcPts val="1605"/>
              </a:lnSpc>
            </a:pPr>
            <a:r>
              <a:rPr lang="en-US" sz="1500">
                <a:solidFill>
                  <a:srgbClr val="191919"/>
                </a:solidFill>
                <a:latin typeface="Gotham"/>
                <a:ea typeface="Gotham"/>
                <a:cs typeface="Gotham"/>
                <a:sym typeface="Gotham"/>
              </a:rPr>
              <a:t>AI Developer, Publica AI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sp>
        <p:nvSpPr>
          <p:cNvPr name="Freeform 2" id="2"/>
          <p:cNvSpPr/>
          <p:nvPr/>
        </p:nvSpPr>
        <p:spPr>
          <a:xfrm flipH="false" flipV="false" rot="0">
            <a:off x="431921"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2"/>
            <a:stretch>
              <a:fillRect l="0" t="-6021" r="-6847" b="-6021"/>
            </a:stretch>
          </a:blipFill>
        </p:spPr>
      </p:sp>
      <p:sp>
        <p:nvSpPr>
          <p:cNvPr name="Freeform 3" id="3"/>
          <p:cNvSpPr/>
          <p:nvPr/>
        </p:nvSpPr>
        <p:spPr>
          <a:xfrm flipH="false" flipV="false" rot="1655816">
            <a:off x="16974981" y="4013228"/>
            <a:ext cx="1577153" cy="3243522"/>
          </a:xfrm>
          <a:custGeom>
            <a:avLst/>
            <a:gdLst/>
            <a:ahLst/>
            <a:cxnLst/>
            <a:rect r="r" b="b" t="t" l="l"/>
            <a:pathLst>
              <a:path h="3243522" w="1577153">
                <a:moveTo>
                  <a:pt x="0" y="0"/>
                </a:moveTo>
                <a:lnTo>
                  <a:pt x="1577154" y="0"/>
                </a:lnTo>
                <a:lnTo>
                  <a:pt x="1577154" y="3243522"/>
                </a:lnTo>
                <a:lnTo>
                  <a:pt x="0" y="3243522"/>
                </a:lnTo>
                <a:lnTo>
                  <a:pt x="0" y="0"/>
                </a:lnTo>
                <a:close/>
              </a:path>
            </a:pathLst>
          </a:custGeom>
          <a:blipFill>
            <a:blip r:embed="rId3">
              <a:extLst>
                <a:ext uri="{96DAC541-7B7A-43D3-8B79-37D633B846F1}">
                  <asvg:svgBlip xmlns:asvg="http://schemas.microsoft.com/office/drawing/2016/SVG/main" r:embed="rId4"/>
                </a:ext>
              </a:extLst>
            </a:blip>
            <a:stretch>
              <a:fillRect l="0" t="0" r="-204881" b="0"/>
            </a:stretch>
          </a:blipFill>
        </p:spPr>
      </p:sp>
      <p:grpSp>
        <p:nvGrpSpPr>
          <p:cNvPr name="Group 4" id="4"/>
          <p:cNvGrpSpPr/>
          <p:nvPr/>
        </p:nvGrpSpPr>
        <p:grpSpPr>
          <a:xfrm rot="3945801">
            <a:off x="17389820" y="3579125"/>
            <a:ext cx="4493816" cy="4776403"/>
            <a:chOff x="0" y="0"/>
            <a:chExt cx="764712" cy="812800"/>
          </a:xfrm>
        </p:grpSpPr>
        <p:sp>
          <p:nvSpPr>
            <p:cNvPr name="Freeform 5" id="5"/>
            <p:cNvSpPr/>
            <p:nvPr/>
          </p:nvSpPr>
          <p:spPr>
            <a:xfrm flipH="false" flipV="false" rot="0">
              <a:off x="0" y="0"/>
              <a:ext cx="764712" cy="812800"/>
            </a:xfrm>
            <a:custGeom>
              <a:avLst/>
              <a:gdLst/>
              <a:ahLst/>
              <a:cxnLst/>
              <a:rect r="r" b="b" t="t" l="l"/>
              <a:pathLst>
                <a:path h="812800" w="764712">
                  <a:moveTo>
                    <a:pt x="382356" y="0"/>
                  </a:moveTo>
                  <a:cubicBezTo>
                    <a:pt x="171187" y="0"/>
                    <a:pt x="0" y="181951"/>
                    <a:pt x="0" y="406400"/>
                  </a:cubicBezTo>
                  <a:cubicBezTo>
                    <a:pt x="0" y="630849"/>
                    <a:pt x="171187" y="812800"/>
                    <a:pt x="382356" y="812800"/>
                  </a:cubicBezTo>
                  <a:cubicBezTo>
                    <a:pt x="593526" y="812800"/>
                    <a:pt x="764712" y="630849"/>
                    <a:pt x="764712" y="406400"/>
                  </a:cubicBezTo>
                  <a:cubicBezTo>
                    <a:pt x="764712" y="181951"/>
                    <a:pt x="593526" y="0"/>
                    <a:pt x="382356" y="0"/>
                  </a:cubicBezTo>
                  <a:close/>
                </a:path>
              </a:pathLst>
            </a:custGeom>
            <a:solidFill>
              <a:srgbClr val="387F7F"/>
            </a:solidFill>
          </p:spPr>
        </p:sp>
        <p:sp>
          <p:nvSpPr>
            <p:cNvPr name="TextBox 6" id="6"/>
            <p:cNvSpPr txBox="true"/>
            <p:nvPr/>
          </p:nvSpPr>
          <p:spPr>
            <a:xfrm>
              <a:off x="71692" y="47625"/>
              <a:ext cx="621329" cy="68897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235586" y="1057275"/>
            <a:ext cx="4570585" cy="452881"/>
          </a:xfrm>
          <a:prstGeom prst="rect">
            <a:avLst/>
          </a:prstGeom>
        </p:spPr>
        <p:txBody>
          <a:bodyPr anchor="t" rtlCol="false" tIns="0" lIns="0" bIns="0" rIns="0">
            <a:spAutoFit/>
          </a:bodyPr>
          <a:lstStyle/>
          <a:p>
            <a:pPr algn="ctr">
              <a:lnSpc>
                <a:spcPts val="3423"/>
              </a:lnSpc>
              <a:spcBef>
                <a:spcPct val="0"/>
              </a:spcBef>
            </a:pPr>
            <a:r>
              <a:rPr lang="en-US" b="true" sz="3199">
                <a:solidFill>
                  <a:srgbClr val="2E686A"/>
                </a:solidFill>
                <a:latin typeface="Gotham Bold"/>
                <a:ea typeface="Gotham Bold"/>
                <a:cs typeface="Gotham Bold"/>
                <a:sym typeface="Gotham Bold"/>
              </a:rPr>
              <a:t>Course Objectives</a:t>
            </a:r>
          </a:p>
        </p:txBody>
      </p:sp>
      <p:sp>
        <p:nvSpPr>
          <p:cNvPr name="Freeform 8" id="8"/>
          <p:cNvSpPr/>
          <p:nvPr/>
        </p:nvSpPr>
        <p:spPr>
          <a:xfrm flipH="false" flipV="false" rot="0">
            <a:off x="1586608" y="507432"/>
            <a:ext cx="14950050" cy="9064806"/>
          </a:xfrm>
          <a:custGeom>
            <a:avLst/>
            <a:gdLst/>
            <a:ahLst/>
            <a:cxnLst/>
            <a:rect r="r" b="b" t="t" l="l"/>
            <a:pathLst>
              <a:path h="9064806" w="14950050">
                <a:moveTo>
                  <a:pt x="0" y="0"/>
                </a:moveTo>
                <a:lnTo>
                  <a:pt x="14950050" y="0"/>
                </a:lnTo>
                <a:lnTo>
                  <a:pt x="14950050" y="9064806"/>
                </a:lnTo>
                <a:lnTo>
                  <a:pt x="0" y="9064806"/>
                </a:lnTo>
                <a:lnTo>
                  <a:pt x="0" y="0"/>
                </a:lnTo>
                <a:close/>
              </a:path>
            </a:pathLst>
          </a:custGeom>
          <a:blipFill>
            <a:blip r:embed="rId5">
              <a:alphaModFix amt="2000"/>
            </a:blip>
            <a:stretch>
              <a:fillRect l="-67431" t="0" r="-65773" b="-133205"/>
            </a:stretch>
          </a:blipFill>
        </p:spPr>
      </p:sp>
      <p:sp>
        <p:nvSpPr>
          <p:cNvPr name="TextBox 9" id="9"/>
          <p:cNvSpPr txBox="true"/>
          <p:nvPr/>
        </p:nvSpPr>
        <p:spPr>
          <a:xfrm rot="0">
            <a:off x="2524208" y="1655114"/>
            <a:ext cx="8563927" cy="487841"/>
          </a:xfrm>
          <a:prstGeom prst="rect">
            <a:avLst/>
          </a:prstGeom>
        </p:spPr>
        <p:txBody>
          <a:bodyPr anchor="t" rtlCol="false" tIns="0" lIns="0" bIns="0" rIns="0">
            <a:spAutoFit/>
          </a:bodyPr>
          <a:lstStyle/>
          <a:p>
            <a:pPr algn="l">
              <a:lnSpc>
                <a:spcPts val="4003"/>
              </a:lnSpc>
            </a:pPr>
            <a:r>
              <a:rPr lang="en-US" sz="2599" spc="-244" b="true">
                <a:solidFill>
                  <a:srgbClr val="000000"/>
                </a:solidFill>
                <a:latin typeface="Gotham Bold"/>
                <a:ea typeface="Gotham Bold"/>
                <a:cs typeface="Gotham Bold"/>
                <a:sym typeface="Gotham Bold"/>
              </a:rPr>
              <a:t>By the end of this section, you will be able to:</a:t>
            </a:r>
          </a:p>
        </p:txBody>
      </p:sp>
      <p:sp>
        <p:nvSpPr>
          <p:cNvPr name="AutoShape 10" id="10"/>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TextBox 11" id="11"/>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12" id="12"/>
          <p:cNvSpPr txBox="true"/>
          <p:nvPr/>
        </p:nvSpPr>
        <p:spPr>
          <a:xfrm rot="0">
            <a:off x="2332385" y="2670330"/>
            <a:ext cx="13107634" cy="4938868"/>
          </a:xfrm>
          <a:prstGeom prst="rect">
            <a:avLst/>
          </a:prstGeom>
        </p:spPr>
        <p:txBody>
          <a:bodyPr anchor="t" rtlCol="false" tIns="0" lIns="0" bIns="0" rIns="0">
            <a:spAutoFit/>
          </a:bodyPr>
          <a:lstStyle/>
          <a:p>
            <a:pPr algn="l" marL="562540" indent="-281270" lvl="1">
              <a:lnSpc>
                <a:spcPts val="2787"/>
              </a:lnSpc>
              <a:buFont typeface="Arial"/>
              <a:buChar char="•"/>
            </a:pPr>
            <a:r>
              <a:rPr lang="en-US" sz="2605">
                <a:solidFill>
                  <a:srgbClr val="000000"/>
                </a:solidFill>
                <a:latin typeface="Gotham"/>
                <a:ea typeface="Gotham"/>
                <a:cs typeface="Gotham"/>
                <a:sym typeface="Gotham"/>
              </a:rPr>
              <a:t>Understand the limitations of basic retrievers in RAG systems</a:t>
            </a:r>
          </a:p>
          <a:p>
            <a:pPr algn="l">
              <a:lnSpc>
                <a:spcPts val="2787"/>
              </a:lnSpc>
            </a:pPr>
          </a:p>
          <a:p>
            <a:pPr algn="l" marL="562540" indent="-281270" lvl="1">
              <a:lnSpc>
                <a:spcPts val="2787"/>
              </a:lnSpc>
              <a:buFont typeface="Arial"/>
              <a:buChar char="•"/>
            </a:pPr>
            <a:r>
              <a:rPr lang="en-US" sz="2605">
                <a:solidFill>
                  <a:srgbClr val="000000"/>
                </a:solidFill>
                <a:latin typeface="Gotham"/>
                <a:ea typeface="Gotham"/>
                <a:cs typeface="Gotham"/>
                <a:sym typeface="Gotham"/>
              </a:rPr>
              <a:t>Identify and explain at least 7 advanced retriever techniques used in modern RAG pipelines</a:t>
            </a:r>
          </a:p>
          <a:p>
            <a:pPr algn="l">
              <a:lnSpc>
                <a:spcPts val="2787"/>
              </a:lnSpc>
            </a:pPr>
          </a:p>
          <a:p>
            <a:pPr algn="l" marL="562540" indent="-281270" lvl="1">
              <a:lnSpc>
                <a:spcPts val="2787"/>
              </a:lnSpc>
              <a:buFont typeface="Arial"/>
              <a:buChar char="•"/>
            </a:pPr>
            <a:r>
              <a:rPr lang="en-US" sz="2605">
                <a:solidFill>
                  <a:srgbClr val="000000"/>
                </a:solidFill>
                <a:latin typeface="Gotham"/>
                <a:ea typeface="Gotham"/>
                <a:cs typeface="Gotham"/>
                <a:sym typeface="Gotham"/>
              </a:rPr>
              <a:t>Compare the strengths and weaknesses of each technique</a:t>
            </a:r>
          </a:p>
          <a:p>
            <a:pPr algn="l">
              <a:lnSpc>
                <a:spcPts val="2787"/>
              </a:lnSpc>
            </a:pPr>
          </a:p>
          <a:p>
            <a:pPr algn="l" marL="562540" indent="-281270" lvl="1">
              <a:lnSpc>
                <a:spcPts val="2787"/>
              </a:lnSpc>
              <a:buFont typeface="Arial"/>
              <a:buChar char="•"/>
            </a:pPr>
            <a:r>
              <a:rPr lang="en-US" sz="2605">
                <a:solidFill>
                  <a:srgbClr val="000000"/>
                </a:solidFill>
                <a:latin typeface="Gotham"/>
                <a:ea typeface="Gotham"/>
                <a:cs typeface="Gotham"/>
                <a:sym typeface="Gotham"/>
              </a:rPr>
              <a:t>Select the appropriate retriever(s) based on use case, data type, and complexity</a:t>
            </a:r>
          </a:p>
          <a:p>
            <a:pPr algn="l">
              <a:lnSpc>
                <a:spcPts val="2787"/>
              </a:lnSpc>
            </a:pPr>
          </a:p>
          <a:p>
            <a:pPr algn="l" marL="562540" indent="-281270" lvl="1">
              <a:lnSpc>
                <a:spcPts val="2787"/>
              </a:lnSpc>
              <a:buFont typeface="Arial"/>
              <a:buChar char="•"/>
            </a:pPr>
            <a:r>
              <a:rPr lang="en-US" sz="2605">
                <a:solidFill>
                  <a:srgbClr val="000000"/>
                </a:solidFill>
                <a:latin typeface="Gotham"/>
                <a:ea typeface="Gotham"/>
                <a:cs typeface="Gotham"/>
                <a:sym typeface="Gotham"/>
              </a:rPr>
              <a:t>Apply advanced retriever techniques to build more accurate and efficient RAG systems</a:t>
            </a:r>
          </a:p>
          <a:p>
            <a:pPr algn="l">
              <a:lnSpc>
                <a:spcPts val="2787"/>
              </a:lnSpc>
            </a:pPr>
          </a:p>
          <a:p>
            <a:pPr algn="l">
              <a:lnSpc>
                <a:spcPts val="2787"/>
              </a:lnSpc>
            </a:pPr>
          </a:p>
        </p:txBody>
      </p:sp>
      <p:sp>
        <p:nvSpPr>
          <p:cNvPr name="Freeform 13" id="13"/>
          <p:cNvSpPr/>
          <p:nvPr/>
        </p:nvSpPr>
        <p:spPr>
          <a:xfrm flipH="false" flipV="false" rot="0">
            <a:off x="281456" y="155422"/>
            <a:ext cx="1193557" cy="989420"/>
          </a:xfrm>
          <a:custGeom>
            <a:avLst/>
            <a:gdLst/>
            <a:ahLst/>
            <a:cxnLst/>
            <a:rect r="r" b="b" t="t" l="l"/>
            <a:pathLst>
              <a:path h="989420" w="1193557">
                <a:moveTo>
                  <a:pt x="0" y="0"/>
                </a:moveTo>
                <a:lnTo>
                  <a:pt x="1193557" y="0"/>
                </a:lnTo>
                <a:lnTo>
                  <a:pt x="1193557" y="989420"/>
                </a:lnTo>
                <a:lnTo>
                  <a:pt x="0" y="989420"/>
                </a:lnTo>
                <a:lnTo>
                  <a:pt x="0" y="0"/>
                </a:lnTo>
                <a:close/>
              </a:path>
            </a:pathLst>
          </a:custGeom>
          <a:blipFill>
            <a:blip r:embed="rId2"/>
            <a:stretch>
              <a:fillRect l="0" t="-6021" r="-6847" b="-6021"/>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7434" y="2980392"/>
            <a:ext cx="2381700" cy="6059217"/>
          </a:xfrm>
          <a:custGeom>
            <a:avLst/>
            <a:gdLst/>
            <a:ahLst/>
            <a:cxnLst/>
            <a:rect r="r" b="b" t="t" l="l"/>
            <a:pathLst>
              <a:path h="6059217" w="2381700">
                <a:moveTo>
                  <a:pt x="0" y="0"/>
                </a:moveTo>
                <a:lnTo>
                  <a:pt x="2381700" y="0"/>
                </a:lnTo>
                <a:lnTo>
                  <a:pt x="2381700" y="6059217"/>
                </a:lnTo>
                <a:lnTo>
                  <a:pt x="0" y="6059217"/>
                </a:lnTo>
                <a:lnTo>
                  <a:pt x="0" y="0"/>
                </a:lnTo>
                <a:close/>
              </a:path>
            </a:pathLst>
          </a:custGeom>
          <a:blipFill>
            <a:blip r:embed="rId4">
              <a:alphaModFix amt="3000"/>
            </a:blip>
            <a:stretch>
              <a:fillRect l="-756686" t="-20398" r="-554838" b="-216016"/>
            </a:stretch>
          </a:blipFill>
        </p:spPr>
      </p:sp>
      <p:sp>
        <p:nvSpPr>
          <p:cNvPr name="AutoShape 4" id="4"/>
          <p:cNvSpPr/>
          <p:nvPr/>
        </p:nvSpPr>
        <p:spPr>
          <a:xfrm>
            <a:off x="1122477" y="2164354"/>
            <a:ext cx="641153" cy="0"/>
          </a:xfrm>
          <a:prstGeom prst="line">
            <a:avLst/>
          </a:prstGeom>
          <a:ln cap="flat" w="114300">
            <a:solidFill>
              <a:srgbClr val="387F7F"/>
            </a:solidFill>
            <a:prstDash val="sysDash"/>
            <a:headEnd type="none" len="sm" w="sm"/>
            <a:tailEnd type="none" len="sm" w="sm"/>
          </a:ln>
        </p:spPr>
      </p:sp>
      <p:sp>
        <p:nvSpPr>
          <p:cNvPr name="Freeform 5" id="5"/>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5"/>
            <a:stretch>
              <a:fillRect l="0" t="-6021" r="-6847" b="-6021"/>
            </a:stretch>
          </a:blipFill>
        </p:spPr>
      </p:sp>
      <p:sp>
        <p:nvSpPr>
          <p:cNvPr name="Freeform 6" id="6"/>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5"/>
            <a:stretch>
              <a:fillRect l="0" t="-6021" r="-6847" b="-6021"/>
            </a:stretch>
          </a:blipFill>
        </p:spPr>
      </p:sp>
      <p:sp>
        <p:nvSpPr>
          <p:cNvPr name="AutoShape 7" id="7"/>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0">
            <a:off x="10722092" y="1315653"/>
            <a:ext cx="7220588" cy="7098205"/>
          </a:xfrm>
          <a:custGeom>
            <a:avLst/>
            <a:gdLst/>
            <a:ahLst/>
            <a:cxnLst/>
            <a:rect r="r" b="b" t="t" l="l"/>
            <a:pathLst>
              <a:path h="7098205" w="7220588">
                <a:moveTo>
                  <a:pt x="0" y="0"/>
                </a:moveTo>
                <a:lnTo>
                  <a:pt x="7220588" y="0"/>
                </a:lnTo>
                <a:lnTo>
                  <a:pt x="7220588" y="7098205"/>
                </a:lnTo>
                <a:lnTo>
                  <a:pt x="0" y="7098205"/>
                </a:lnTo>
                <a:lnTo>
                  <a:pt x="0" y="0"/>
                </a:lnTo>
                <a:close/>
              </a:path>
            </a:pathLst>
          </a:custGeom>
          <a:blipFill>
            <a:blip r:embed="rId6"/>
            <a:stretch>
              <a:fillRect l="0" t="0" r="0" b="0"/>
            </a:stretch>
          </a:blipFill>
        </p:spPr>
      </p:sp>
      <p:sp>
        <p:nvSpPr>
          <p:cNvPr name="TextBox 9" id="9"/>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10" id="10"/>
          <p:cNvSpPr txBox="true"/>
          <p:nvPr/>
        </p:nvSpPr>
        <p:spPr>
          <a:xfrm rot="0">
            <a:off x="3446665" y="1941428"/>
            <a:ext cx="12583639" cy="2923394"/>
          </a:xfrm>
          <a:prstGeom prst="rect">
            <a:avLst/>
          </a:prstGeom>
        </p:spPr>
        <p:txBody>
          <a:bodyPr anchor="t" rtlCol="false" tIns="0" lIns="0" bIns="0" rIns="0">
            <a:spAutoFit/>
          </a:bodyPr>
          <a:lstStyle/>
          <a:p>
            <a:pPr algn="l">
              <a:lnSpc>
                <a:spcPts val="2983"/>
              </a:lnSpc>
            </a:pPr>
            <a:r>
              <a:rPr lang="en-US" sz="2130" b="true">
                <a:solidFill>
                  <a:srgbClr val="191919"/>
                </a:solidFill>
                <a:latin typeface="Gotham Bold"/>
                <a:ea typeface="Gotham Bold"/>
                <a:cs typeface="Gotham Bold"/>
                <a:sym typeface="Gotham Bold"/>
              </a:rPr>
              <a:t>Limitations of basic retrievers:</a:t>
            </a:r>
          </a:p>
          <a:p>
            <a:pPr algn="l">
              <a:lnSpc>
                <a:spcPts val="3403"/>
              </a:lnSpc>
            </a:pPr>
          </a:p>
          <a:p>
            <a:pPr algn="l" marL="524799" indent="-262399" lvl="1">
              <a:lnSpc>
                <a:spcPts val="3403"/>
              </a:lnSpc>
              <a:buFont typeface="Arial"/>
              <a:buChar char="•"/>
            </a:pPr>
            <a:r>
              <a:rPr lang="en-US" b="true" sz="2430">
                <a:solidFill>
                  <a:srgbClr val="191919"/>
                </a:solidFill>
                <a:latin typeface="Gotham Bold"/>
                <a:ea typeface="Gotham Bold"/>
                <a:cs typeface="Gotham Bold"/>
                <a:sym typeface="Gotham Bold"/>
              </a:rPr>
              <a:t>Retrieve too much or too little</a:t>
            </a:r>
          </a:p>
          <a:p>
            <a:pPr algn="l" marL="524799" indent="-262399" lvl="1">
              <a:lnSpc>
                <a:spcPts val="3403"/>
              </a:lnSpc>
              <a:buFont typeface="Arial"/>
              <a:buChar char="•"/>
            </a:pPr>
            <a:r>
              <a:rPr lang="en-US" b="true" sz="2430">
                <a:solidFill>
                  <a:srgbClr val="191919"/>
                </a:solidFill>
                <a:latin typeface="Gotham Bold"/>
                <a:ea typeface="Gotham Bold"/>
                <a:cs typeface="Gotham Bold"/>
                <a:sym typeface="Gotham Bold"/>
              </a:rPr>
              <a:t>Miss key context</a:t>
            </a:r>
          </a:p>
          <a:p>
            <a:pPr algn="l" marL="524799" indent="-262399" lvl="1">
              <a:lnSpc>
                <a:spcPts val="3403"/>
              </a:lnSpc>
              <a:buFont typeface="Arial"/>
              <a:buChar char="•"/>
            </a:pPr>
            <a:r>
              <a:rPr lang="en-US" b="true" sz="2430">
                <a:solidFill>
                  <a:srgbClr val="191919"/>
                </a:solidFill>
                <a:latin typeface="Gotham Bold"/>
                <a:ea typeface="Gotham Bold"/>
                <a:cs typeface="Gotham Bold"/>
                <a:sym typeface="Gotham Bold"/>
              </a:rPr>
              <a:t>Struggle with complex queries</a:t>
            </a:r>
          </a:p>
          <a:p>
            <a:pPr algn="l" marL="524799" indent="-262399" lvl="1">
              <a:lnSpc>
                <a:spcPts val="3403"/>
              </a:lnSpc>
              <a:buFont typeface="Arial"/>
              <a:buChar char="•"/>
            </a:pPr>
            <a:r>
              <a:rPr lang="en-US" b="true" sz="2430">
                <a:solidFill>
                  <a:srgbClr val="191919"/>
                </a:solidFill>
                <a:latin typeface="Gotham Bold"/>
                <a:ea typeface="Gotham Bold"/>
                <a:cs typeface="Gotham Bold"/>
                <a:sym typeface="Gotham Bold"/>
              </a:rPr>
              <a:t>Was</a:t>
            </a:r>
            <a:r>
              <a:rPr lang="en-US" b="true" sz="2430">
                <a:solidFill>
                  <a:srgbClr val="191919"/>
                </a:solidFill>
                <a:latin typeface="Gotham Bold"/>
                <a:ea typeface="Gotham Bold"/>
                <a:cs typeface="Gotham Bold"/>
                <a:sym typeface="Gotham Bold"/>
              </a:rPr>
              <a:t>te tokens in the LLM</a:t>
            </a:r>
          </a:p>
          <a:p>
            <a:pPr algn="l">
              <a:lnSpc>
                <a:spcPts val="3403"/>
              </a:lnSpc>
              <a:spcBef>
                <a:spcPct val="0"/>
              </a:spcBef>
            </a:pPr>
          </a:p>
        </p:txBody>
      </p:sp>
      <p:sp>
        <p:nvSpPr>
          <p:cNvPr name="TextBox 11" id="11"/>
          <p:cNvSpPr txBox="true"/>
          <p:nvPr/>
        </p:nvSpPr>
        <p:spPr>
          <a:xfrm rot="0">
            <a:off x="-271490" y="1124026"/>
            <a:ext cx="12583639" cy="389061"/>
          </a:xfrm>
          <a:prstGeom prst="rect">
            <a:avLst/>
          </a:prstGeom>
        </p:spPr>
        <p:txBody>
          <a:bodyPr anchor="t" rtlCol="false" tIns="0" lIns="0" bIns="0" rIns="0">
            <a:spAutoFit/>
          </a:bodyPr>
          <a:lstStyle/>
          <a:p>
            <a:pPr algn="ctr">
              <a:lnSpc>
                <a:spcPts val="2995"/>
              </a:lnSpc>
              <a:spcBef>
                <a:spcPct val="0"/>
              </a:spcBef>
            </a:pPr>
            <a:r>
              <a:rPr lang="en-US" b="true" sz="2799">
                <a:solidFill>
                  <a:srgbClr val="000000"/>
                </a:solidFill>
                <a:latin typeface="Gotham Bold"/>
                <a:ea typeface="Gotham Bold"/>
                <a:cs typeface="Gotham Bold"/>
                <a:sym typeface="Gotham Bold"/>
              </a:rPr>
              <a:t> Why G</a:t>
            </a:r>
            <a:r>
              <a:rPr lang="en-US" b="true" sz="2799">
                <a:solidFill>
                  <a:srgbClr val="000000"/>
                </a:solidFill>
                <a:latin typeface="Gotham Bold"/>
                <a:ea typeface="Gotham Bold"/>
                <a:cs typeface="Gotham Bold"/>
                <a:sym typeface="Gotham Bold"/>
              </a:rPr>
              <a:t>o Beyond Basic Retrieval?</a:t>
            </a:r>
          </a:p>
        </p:txBody>
      </p:sp>
      <p:sp>
        <p:nvSpPr>
          <p:cNvPr name="TextBox 12" id="12"/>
          <p:cNvSpPr txBox="true"/>
          <p:nvPr/>
        </p:nvSpPr>
        <p:spPr>
          <a:xfrm rot="0">
            <a:off x="3729781" y="5843836"/>
            <a:ext cx="12583639" cy="2387752"/>
          </a:xfrm>
          <a:prstGeom prst="rect">
            <a:avLst/>
          </a:prstGeom>
        </p:spPr>
        <p:txBody>
          <a:bodyPr anchor="t" rtlCol="false" tIns="0" lIns="0" bIns="0" rIns="0">
            <a:spAutoFit/>
          </a:bodyPr>
          <a:lstStyle/>
          <a:p>
            <a:pPr algn="l">
              <a:lnSpc>
                <a:spcPts val="3123"/>
              </a:lnSpc>
            </a:pPr>
            <a:r>
              <a:rPr lang="en-US" sz="2230" b="true">
                <a:solidFill>
                  <a:srgbClr val="191919"/>
                </a:solidFill>
                <a:latin typeface="Gotham Bold"/>
                <a:ea typeface="Gotham Bold"/>
                <a:cs typeface="Gotham Bold"/>
                <a:sym typeface="Gotham Bold"/>
              </a:rPr>
              <a:t>Advanced retrievers solv</a:t>
            </a:r>
            <a:r>
              <a:rPr lang="en-US" sz="2230" b="true">
                <a:solidFill>
                  <a:srgbClr val="191919"/>
                </a:solidFill>
                <a:latin typeface="Gotham Bold"/>
                <a:ea typeface="Gotham Bold"/>
                <a:cs typeface="Gotham Bold"/>
                <a:sym typeface="Gotham Bold"/>
              </a:rPr>
              <a:t>e these by:</a:t>
            </a:r>
          </a:p>
          <a:p>
            <a:pPr algn="l">
              <a:lnSpc>
                <a:spcPts val="3123"/>
              </a:lnSpc>
            </a:pPr>
            <a:r>
              <a:rPr lang="en-US" sz="2230" b="true">
                <a:solidFill>
                  <a:srgbClr val="191919"/>
                </a:solidFill>
                <a:latin typeface="Gotham Bold"/>
                <a:ea typeface="Gotham Bold"/>
                <a:cs typeface="Gotham Bold"/>
                <a:sym typeface="Gotham Bold"/>
              </a:rPr>
              <a:t> ✅ Improving relevance</a:t>
            </a:r>
          </a:p>
          <a:p>
            <a:pPr algn="l">
              <a:lnSpc>
                <a:spcPts val="3123"/>
              </a:lnSpc>
            </a:pPr>
            <a:r>
              <a:rPr lang="en-US" sz="2230" b="true">
                <a:solidFill>
                  <a:srgbClr val="191919"/>
                </a:solidFill>
                <a:latin typeface="Gotham Bold"/>
                <a:ea typeface="Gotham Bold"/>
                <a:cs typeface="Gotham Bold"/>
                <a:sym typeface="Gotham Bold"/>
              </a:rPr>
              <a:t> ✅ Compre</a:t>
            </a:r>
            <a:r>
              <a:rPr lang="en-US" sz="2230" b="true">
                <a:solidFill>
                  <a:srgbClr val="191919"/>
                </a:solidFill>
                <a:latin typeface="Gotham Bold"/>
                <a:ea typeface="Gotham Bold"/>
                <a:cs typeface="Gotham Bold"/>
                <a:sym typeface="Gotham Bold"/>
              </a:rPr>
              <a:t>ssing context</a:t>
            </a:r>
          </a:p>
          <a:p>
            <a:pPr algn="l">
              <a:lnSpc>
                <a:spcPts val="3123"/>
              </a:lnSpc>
            </a:pPr>
            <a:r>
              <a:rPr lang="en-US" sz="2230" b="true">
                <a:solidFill>
                  <a:srgbClr val="191919"/>
                </a:solidFill>
                <a:latin typeface="Gotham Bold"/>
                <a:ea typeface="Gotham Bold"/>
                <a:cs typeface="Gotham Bold"/>
                <a:sym typeface="Gotham Bold"/>
              </a:rPr>
              <a:t> ✅ </a:t>
            </a:r>
            <a:r>
              <a:rPr lang="en-US" sz="2230" b="true">
                <a:solidFill>
                  <a:srgbClr val="191919"/>
                </a:solidFill>
                <a:latin typeface="Gotham Bold"/>
                <a:ea typeface="Gotham Bold"/>
                <a:cs typeface="Gotham Bold"/>
                <a:sym typeface="Gotham Bold"/>
              </a:rPr>
              <a:t>Supporting deeper reasoning</a:t>
            </a:r>
          </a:p>
          <a:p>
            <a:pPr algn="l">
              <a:lnSpc>
                <a:spcPts val="3123"/>
              </a:lnSpc>
            </a:pPr>
            <a:r>
              <a:rPr lang="en-US" sz="2230" b="true">
                <a:solidFill>
                  <a:srgbClr val="191919"/>
                </a:solidFill>
                <a:latin typeface="Gotham Bold"/>
                <a:ea typeface="Gotham Bold"/>
                <a:cs typeface="Gotham Bold"/>
                <a:sym typeface="Gotham Bold"/>
              </a:rPr>
              <a:t> ✅ Expanding query interpretation</a:t>
            </a:r>
          </a:p>
          <a:p>
            <a:pPr algn="l">
              <a:lnSpc>
                <a:spcPts val="3543"/>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sp>
        <p:nvSpPr>
          <p:cNvPr name="Freeform 2" id="2"/>
          <p:cNvSpPr/>
          <p:nvPr/>
        </p:nvSpPr>
        <p:spPr>
          <a:xfrm flipH="false" flipV="false" rot="0">
            <a:off x="275607" y="2429830"/>
            <a:ext cx="2648102" cy="6059217"/>
          </a:xfrm>
          <a:custGeom>
            <a:avLst/>
            <a:gdLst/>
            <a:ahLst/>
            <a:cxnLst/>
            <a:rect r="r" b="b" t="t" l="l"/>
            <a:pathLst>
              <a:path h="6059217" w="2648102">
                <a:moveTo>
                  <a:pt x="0" y="0"/>
                </a:moveTo>
                <a:lnTo>
                  <a:pt x="2648102" y="0"/>
                </a:lnTo>
                <a:lnTo>
                  <a:pt x="2648102" y="6059217"/>
                </a:lnTo>
                <a:lnTo>
                  <a:pt x="0" y="6059217"/>
                </a:lnTo>
                <a:lnTo>
                  <a:pt x="0" y="0"/>
                </a:lnTo>
                <a:close/>
              </a:path>
            </a:pathLst>
          </a:custGeom>
          <a:blipFill>
            <a:blip r:embed="rId2">
              <a:alphaModFix amt="3000"/>
            </a:blip>
            <a:stretch>
              <a:fillRect l="-675501" t="-20398" r="-494022" b="-216016"/>
            </a:stretch>
          </a:blipFill>
        </p:spPr>
      </p:sp>
      <p:grpSp>
        <p:nvGrpSpPr>
          <p:cNvPr name="Group 3" id="3"/>
          <p:cNvGrpSpPr/>
          <p:nvPr/>
        </p:nvGrpSpPr>
        <p:grpSpPr>
          <a:xfrm rot="0">
            <a:off x="1103427" y="3309612"/>
            <a:ext cx="992463" cy="99246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686A"/>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1</a:t>
              </a:r>
            </a:p>
          </p:txBody>
        </p:sp>
      </p:grpSp>
      <p:sp>
        <p:nvSpPr>
          <p:cNvPr name="TextBox 6" id="6"/>
          <p:cNvSpPr txBox="true"/>
          <p:nvPr/>
        </p:nvSpPr>
        <p:spPr>
          <a:xfrm rot="0">
            <a:off x="3044545" y="1236641"/>
            <a:ext cx="12583639" cy="6684394"/>
          </a:xfrm>
          <a:prstGeom prst="rect">
            <a:avLst/>
          </a:prstGeom>
        </p:spPr>
        <p:txBody>
          <a:bodyPr anchor="t" rtlCol="false" tIns="0" lIns="0" bIns="0" rIns="0">
            <a:spAutoFit/>
          </a:bodyPr>
          <a:lstStyle/>
          <a:p>
            <a:pPr algn="l">
              <a:lnSpc>
                <a:spcPts val="4383"/>
              </a:lnSpc>
            </a:pPr>
            <a:r>
              <a:rPr lang="en-US" sz="3130" b="true">
                <a:solidFill>
                  <a:srgbClr val="191919"/>
                </a:solidFill>
                <a:latin typeface="Gotham Bold"/>
                <a:ea typeface="Gotham Bold"/>
                <a:cs typeface="Gotham Bold"/>
                <a:sym typeface="Gotham Bold"/>
              </a:rPr>
              <a:t>Here are some Advance Retriever techniques:</a:t>
            </a:r>
          </a:p>
          <a:p>
            <a:pPr algn="l">
              <a:lnSpc>
                <a:spcPts val="3263"/>
              </a:lnSpc>
            </a:pPr>
          </a:p>
          <a:p>
            <a:pPr algn="l" marL="503209" indent="-251605" lvl="1">
              <a:lnSpc>
                <a:spcPts val="3263"/>
              </a:lnSpc>
              <a:buFont typeface="Arial"/>
              <a:buChar char="•"/>
            </a:pPr>
            <a:r>
              <a:rPr lang="en-US" sz="2330">
                <a:solidFill>
                  <a:srgbClr val="191919"/>
                </a:solidFill>
                <a:latin typeface="Gotham Light"/>
                <a:ea typeface="Gotham Light"/>
                <a:cs typeface="Gotham Light"/>
                <a:sym typeface="Gotham Light"/>
              </a:rPr>
              <a:t>Parent Document Retriever</a:t>
            </a:r>
          </a:p>
          <a:p>
            <a:pPr algn="l">
              <a:lnSpc>
                <a:spcPts val="3263"/>
              </a:lnSpc>
            </a:pPr>
          </a:p>
          <a:p>
            <a:pPr algn="l" marL="503209" indent="-251605" lvl="1">
              <a:lnSpc>
                <a:spcPts val="3263"/>
              </a:lnSpc>
              <a:buFont typeface="Arial"/>
              <a:buChar char="•"/>
            </a:pPr>
            <a:r>
              <a:rPr lang="en-US" sz="2330">
                <a:solidFill>
                  <a:srgbClr val="191919"/>
                </a:solidFill>
                <a:latin typeface="Gotham Light"/>
                <a:ea typeface="Gotham Light"/>
                <a:cs typeface="Gotham Light"/>
                <a:sym typeface="Gotham Light"/>
              </a:rPr>
              <a:t>Multiple Query Retriever</a:t>
            </a:r>
          </a:p>
          <a:p>
            <a:pPr algn="l">
              <a:lnSpc>
                <a:spcPts val="3263"/>
              </a:lnSpc>
            </a:pPr>
          </a:p>
          <a:p>
            <a:pPr algn="l" marL="503209" indent="-251605" lvl="1">
              <a:lnSpc>
                <a:spcPts val="3263"/>
              </a:lnSpc>
              <a:buFont typeface="Arial"/>
              <a:buChar char="•"/>
            </a:pPr>
            <a:r>
              <a:rPr lang="en-US" sz="2330">
                <a:solidFill>
                  <a:srgbClr val="191919"/>
                </a:solidFill>
                <a:latin typeface="Gotham Light"/>
                <a:ea typeface="Gotham Light"/>
                <a:cs typeface="Gotham Light"/>
                <a:sym typeface="Gotham Light"/>
              </a:rPr>
              <a:t>Raptor</a:t>
            </a:r>
          </a:p>
          <a:p>
            <a:pPr algn="l">
              <a:lnSpc>
                <a:spcPts val="3263"/>
              </a:lnSpc>
            </a:pPr>
          </a:p>
          <a:p>
            <a:pPr algn="l" marL="503209" indent="-251605" lvl="1">
              <a:lnSpc>
                <a:spcPts val="3263"/>
              </a:lnSpc>
              <a:buFont typeface="Arial"/>
              <a:buChar char="•"/>
            </a:pPr>
            <a:r>
              <a:rPr lang="en-US" sz="2330">
                <a:solidFill>
                  <a:srgbClr val="191919"/>
                </a:solidFill>
                <a:latin typeface="Gotham Light"/>
                <a:ea typeface="Gotham Light"/>
                <a:cs typeface="Gotham Light"/>
                <a:sym typeface="Gotham Light"/>
              </a:rPr>
              <a:t>Contextual Compression Retrieve</a:t>
            </a:r>
          </a:p>
          <a:p>
            <a:pPr algn="l">
              <a:lnSpc>
                <a:spcPts val="3263"/>
              </a:lnSpc>
            </a:pPr>
          </a:p>
          <a:p>
            <a:pPr algn="l" marL="503209" indent="-251605" lvl="1">
              <a:lnSpc>
                <a:spcPts val="3263"/>
              </a:lnSpc>
              <a:buFont typeface="Arial"/>
              <a:buChar char="•"/>
            </a:pPr>
            <a:r>
              <a:rPr lang="en-US" sz="2330">
                <a:solidFill>
                  <a:srgbClr val="191919"/>
                </a:solidFill>
                <a:latin typeface="Gotham Light"/>
                <a:ea typeface="Gotham Light"/>
                <a:cs typeface="Gotham Light"/>
                <a:sym typeface="Gotham Light"/>
              </a:rPr>
              <a:t>HyDE (Hypothetical Document Embeddings)</a:t>
            </a:r>
          </a:p>
          <a:p>
            <a:pPr algn="l">
              <a:lnSpc>
                <a:spcPts val="3263"/>
              </a:lnSpc>
            </a:pPr>
          </a:p>
          <a:p>
            <a:pPr algn="l" marL="503209" indent="-251605" lvl="1">
              <a:lnSpc>
                <a:spcPts val="3263"/>
              </a:lnSpc>
              <a:buFont typeface="Arial"/>
              <a:buChar char="•"/>
            </a:pPr>
            <a:r>
              <a:rPr lang="en-US" sz="2330">
                <a:solidFill>
                  <a:srgbClr val="191919"/>
                </a:solidFill>
                <a:latin typeface="Gotham Light"/>
                <a:ea typeface="Gotham Light"/>
                <a:cs typeface="Gotham Light"/>
                <a:sym typeface="Gotham Light"/>
              </a:rPr>
              <a:t>BM25</a:t>
            </a:r>
          </a:p>
          <a:p>
            <a:pPr algn="l">
              <a:lnSpc>
                <a:spcPts val="3263"/>
              </a:lnSpc>
            </a:pPr>
          </a:p>
          <a:p>
            <a:pPr algn="l" marL="503209" indent="-251605" lvl="1">
              <a:lnSpc>
                <a:spcPts val="3263"/>
              </a:lnSpc>
              <a:buFont typeface="Arial"/>
              <a:buChar char="•"/>
            </a:pPr>
            <a:r>
              <a:rPr lang="en-US" sz="2330">
                <a:solidFill>
                  <a:srgbClr val="191919"/>
                </a:solidFill>
                <a:latin typeface="Gotham Light"/>
                <a:ea typeface="Gotham Light"/>
                <a:cs typeface="Gotham Light"/>
                <a:sym typeface="Gotham Light"/>
              </a:rPr>
              <a:t>Semantic Splitting</a:t>
            </a:r>
          </a:p>
          <a:p>
            <a:pPr algn="l">
              <a:lnSpc>
                <a:spcPts val="3263"/>
              </a:lnSpc>
              <a:spcBef>
                <a:spcPct val="0"/>
              </a:spcBef>
            </a:pPr>
          </a:p>
        </p:txBody>
      </p:sp>
      <p:sp>
        <p:nvSpPr>
          <p:cNvPr name="Freeform 7" id="7"/>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3"/>
            <a:stretch>
              <a:fillRect l="0" t="-6021" r="-6847" b="-6021"/>
            </a:stretch>
          </a:blipFill>
        </p:spPr>
      </p:sp>
      <p:sp>
        <p:nvSpPr>
          <p:cNvPr name="Freeform 8" id="8"/>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3"/>
            <a:stretch>
              <a:fillRect l="0" t="-6021" r="-6847" b="-6021"/>
            </a:stretch>
          </a:blipFill>
        </p:spPr>
      </p:sp>
      <p:sp>
        <p:nvSpPr>
          <p:cNvPr name="AutoShape 9" id="9"/>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TextBox 10" id="10"/>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Freeform 11" id="11"/>
          <p:cNvSpPr/>
          <p:nvPr/>
        </p:nvSpPr>
        <p:spPr>
          <a:xfrm flipH="false" flipV="false" rot="0">
            <a:off x="10992888" y="1716944"/>
            <a:ext cx="7001426" cy="6882758"/>
          </a:xfrm>
          <a:custGeom>
            <a:avLst/>
            <a:gdLst/>
            <a:ahLst/>
            <a:cxnLst/>
            <a:rect r="r" b="b" t="t" l="l"/>
            <a:pathLst>
              <a:path h="6882758" w="7001426">
                <a:moveTo>
                  <a:pt x="0" y="0"/>
                </a:moveTo>
                <a:lnTo>
                  <a:pt x="7001426" y="0"/>
                </a:lnTo>
                <a:lnTo>
                  <a:pt x="7001426" y="6882758"/>
                </a:lnTo>
                <a:lnTo>
                  <a:pt x="0" y="6882758"/>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8859" y="2980392"/>
            <a:ext cx="2381700" cy="6059217"/>
          </a:xfrm>
          <a:custGeom>
            <a:avLst/>
            <a:gdLst/>
            <a:ahLst/>
            <a:cxnLst/>
            <a:rect r="r" b="b" t="t" l="l"/>
            <a:pathLst>
              <a:path h="6059217" w="2381700">
                <a:moveTo>
                  <a:pt x="0" y="0"/>
                </a:moveTo>
                <a:lnTo>
                  <a:pt x="2381700" y="0"/>
                </a:lnTo>
                <a:lnTo>
                  <a:pt x="2381700" y="6059217"/>
                </a:lnTo>
                <a:lnTo>
                  <a:pt x="0" y="6059217"/>
                </a:lnTo>
                <a:lnTo>
                  <a:pt x="0" y="0"/>
                </a:lnTo>
                <a:close/>
              </a:path>
            </a:pathLst>
          </a:custGeom>
          <a:blipFill>
            <a:blip r:embed="rId4">
              <a:alphaModFix amt="3000"/>
            </a:blip>
            <a:stretch>
              <a:fillRect l="-756686" t="-20398" r="-554838" b="-216016"/>
            </a:stretch>
          </a:blipFill>
        </p:spPr>
      </p:sp>
      <p:sp>
        <p:nvSpPr>
          <p:cNvPr name="AutoShape 4" id="4"/>
          <p:cNvSpPr/>
          <p:nvPr/>
        </p:nvSpPr>
        <p:spPr>
          <a:xfrm>
            <a:off x="1122477" y="2164354"/>
            <a:ext cx="641153" cy="0"/>
          </a:xfrm>
          <a:prstGeom prst="line">
            <a:avLst/>
          </a:prstGeom>
          <a:ln cap="flat" w="114300">
            <a:solidFill>
              <a:srgbClr val="387F7F"/>
            </a:solidFill>
            <a:prstDash val="sysDash"/>
            <a:headEnd type="none" len="sm" w="sm"/>
            <a:tailEnd type="none" len="sm" w="sm"/>
          </a:ln>
        </p:spPr>
      </p:sp>
      <p:sp>
        <p:nvSpPr>
          <p:cNvPr name="Freeform 5" id="5"/>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5"/>
            <a:stretch>
              <a:fillRect l="0" t="-6021" r="-6847" b="-6021"/>
            </a:stretch>
          </a:blipFill>
        </p:spPr>
      </p:sp>
      <p:sp>
        <p:nvSpPr>
          <p:cNvPr name="Freeform 6" id="6"/>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5"/>
            <a:stretch>
              <a:fillRect l="0" t="-6021" r="-6847" b="-6021"/>
            </a:stretch>
          </a:blipFill>
        </p:spPr>
      </p:sp>
      <p:sp>
        <p:nvSpPr>
          <p:cNvPr name="AutoShape 7" id="7"/>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0">
            <a:off x="3983147" y="707687"/>
            <a:ext cx="11103962" cy="7788108"/>
          </a:xfrm>
          <a:custGeom>
            <a:avLst/>
            <a:gdLst/>
            <a:ahLst/>
            <a:cxnLst/>
            <a:rect r="r" b="b" t="t" l="l"/>
            <a:pathLst>
              <a:path h="7788108" w="11103962">
                <a:moveTo>
                  <a:pt x="0" y="0"/>
                </a:moveTo>
                <a:lnTo>
                  <a:pt x="11103963" y="0"/>
                </a:lnTo>
                <a:lnTo>
                  <a:pt x="11103963" y="7788108"/>
                </a:lnTo>
                <a:lnTo>
                  <a:pt x="0" y="7788108"/>
                </a:lnTo>
                <a:lnTo>
                  <a:pt x="0" y="0"/>
                </a:lnTo>
                <a:close/>
              </a:path>
            </a:pathLst>
          </a:custGeom>
          <a:blipFill>
            <a:blip r:embed="rId6"/>
            <a:stretch>
              <a:fillRect l="0" t="-17551" r="0" b="-2686"/>
            </a:stretch>
          </a:blipFill>
        </p:spPr>
      </p:sp>
      <p:sp>
        <p:nvSpPr>
          <p:cNvPr name="TextBox 9" id="9"/>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8859" y="2980392"/>
            <a:ext cx="2381700" cy="6059217"/>
          </a:xfrm>
          <a:custGeom>
            <a:avLst/>
            <a:gdLst/>
            <a:ahLst/>
            <a:cxnLst/>
            <a:rect r="r" b="b" t="t" l="l"/>
            <a:pathLst>
              <a:path h="6059217" w="2381700">
                <a:moveTo>
                  <a:pt x="0" y="0"/>
                </a:moveTo>
                <a:lnTo>
                  <a:pt x="2381700" y="0"/>
                </a:lnTo>
                <a:lnTo>
                  <a:pt x="2381700" y="6059217"/>
                </a:lnTo>
                <a:lnTo>
                  <a:pt x="0" y="6059217"/>
                </a:lnTo>
                <a:lnTo>
                  <a:pt x="0" y="0"/>
                </a:lnTo>
                <a:close/>
              </a:path>
            </a:pathLst>
          </a:custGeom>
          <a:blipFill>
            <a:blip r:embed="rId4">
              <a:alphaModFix amt="3000"/>
            </a:blip>
            <a:stretch>
              <a:fillRect l="-756686" t="-20398" r="-554838" b="-216016"/>
            </a:stretch>
          </a:blipFill>
        </p:spPr>
      </p:sp>
      <p:sp>
        <p:nvSpPr>
          <p:cNvPr name="AutoShape 4" id="4"/>
          <p:cNvSpPr/>
          <p:nvPr/>
        </p:nvSpPr>
        <p:spPr>
          <a:xfrm>
            <a:off x="1122477" y="2164354"/>
            <a:ext cx="641153" cy="0"/>
          </a:xfrm>
          <a:prstGeom prst="line">
            <a:avLst/>
          </a:prstGeom>
          <a:ln cap="flat" w="114300">
            <a:solidFill>
              <a:srgbClr val="387F7F"/>
            </a:solidFill>
            <a:prstDash val="sysDash"/>
            <a:headEnd type="none" len="sm" w="sm"/>
            <a:tailEnd type="none" len="sm" w="sm"/>
          </a:ln>
        </p:spPr>
      </p:sp>
      <p:sp>
        <p:nvSpPr>
          <p:cNvPr name="Freeform 5" id="5"/>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5"/>
            <a:stretch>
              <a:fillRect l="0" t="-6021" r="-6847" b="-6021"/>
            </a:stretch>
          </a:blipFill>
        </p:spPr>
      </p:sp>
      <p:sp>
        <p:nvSpPr>
          <p:cNvPr name="Freeform 6" id="6"/>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5"/>
            <a:stretch>
              <a:fillRect l="0" t="-6021" r="-6847" b="-6021"/>
            </a:stretch>
          </a:blipFill>
        </p:spPr>
      </p:sp>
      <p:sp>
        <p:nvSpPr>
          <p:cNvPr name="AutoShape 7" id="7"/>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9" id="9"/>
          <p:cNvSpPr txBox="true"/>
          <p:nvPr/>
        </p:nvSpPr>
        <p:spPr>
          <a:xfrm rot="0">
            <a:off x="2332385" y="950737"/>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387F7F"/>
                </a:solidFill>
                <a:latin typeface="Gotham Bold"/>
                <a:ea typeface="Gotham Bold"/>
                <a:cs typeface="Gotham Bold"/>
                <a:sym typeface="Gotham Bold"/>
              </a:rPr>
              <a:t> Parent D</a:t>
            </a:r>
            <a:r>
              <a:rPr lang="en-US" b="true" sz="2999">
                <a:solidFill>
                  <a:srgbClr val="387F7F"/>
                </a:solidFill>
                <a:latin typeface="Gotham Bold"/>
                <a:ea typeface="Gotham Bold"/>
                <a:cs typeface="Gotham Bold"/>
                <a:sym typeface="Gotham Bold"/>
              </a:rPr>
              <a:t>ocument Retriever</a:t>
            </a:r>
          </a:p>
        </p:txBody>
      </p:sp>
      <p:sp>
        <p:nvSpPr>
          <p:cNvPr name="TextBox 10" id="10"/>
          <p:cNvSpPr txBox="true"/>
          <p:nvPr/>
        </p:nvSpPr>
        <p:spPr>
          <a:xfrm rot="0">
            <a:off x="2740559" y="2393110"/>
            <a:ext cx="6995029" cy="6127750"/>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Many RAG systems split documents into small chunks for retrieval. Small chunks may miss important context needed to answer questions.</a:t>
            </a:r>
          </a:p>
          <a:p>
            <a:pPr algn="just">
              <a:lnSpc>
                <a:spcPts val="3499"/>
              </a:lnSpc>
            </a:pP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The Parent Document Retriever embeds smaller chunks for efficient search but retrieves the full parent document for the LLM. Combines the benefits of concise retrieval with access to complete context for accurate generation.</a:t>
            </a:r>
          </a:p>
          <a:p>
            <a:pPr algn="just">
              <a:lnSpc>
                <a:spcPts val="3499"/>
              </a:lnSpc>
            </a:pPr>
          </a:p>
          <a:p>
            <a:pPr algn="just">
              <a:lnSpc>
                <a:spcPts val="3499"/>
              </a:lnSpc>
              <a:spcBef>
                <a:spcPct val="0"/>
              </a:spcBef>
            </a:pPr>
          </a:p>
        </p:txBody>
      </p:sp>
      <p:sp>
        <p:nvSpPr>
          <p:cNvPr name="Freeform 11" id="11"/>
          <p:cNvSpPr/>
          <p:nvPr/>
        </p:nvSpPr>
        <p:spPr>
          <a:xfrm flipH="false" flipV="false" rot="0">
            <a:off x="10367002" y="2164354"/>
            <a:ext cx="7920998" cy="5390116"/>
          </a:xfrm>
          <a:custGeom>
            <a:avLst/>
            <a:gdLst/>
            <a:ahLst/>
            <a:cxnLst/>
            <a:rect r="r" b="b" t="t" l="l"/>
            <a:pathLst>
              <a:path h="5390116" w="7920998">
                <a:moveTo>
                  <a:pt x="0" y="0"/>
                </a:moveTo>
                <a:lnTo>
                  <a:pt x="7920998" y="0"/>
                </a:lnTo>
                <a:lnTo>
                  <a:pt x="7920998" y="5390116"/>
                </a:lnTo>
                <a:lnTo>
                  <a:pt x="0" y="5390116"/>
                </a:lnTo>
                <a:lnTo>
                  <a:pt x="0" y="0"/>
                </a:lnTo>
                <a:close/>
              </a:path>
            </a:pathLst>
          </a:custGeom>
          <a:blipFill>
            <a:blip r:embed="rId6"/>
            <a:stretch>
              <a:fillRect l="-20975"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8859" y="2601013"/>
            <a:ext cx="2381700" cy="6059217"/>
          </a:xfrm>
          <a:custGeom>
            <a:avLst/>
            <a:gdLst/>
            <a:ahLst/>
            <a:cxnLst/>
            <a:rect r="r" b="b" t="t" l="l"/>
            <a:pathLst>
              <a:path h="6059217" w="2381700">
                <a:moveTo>
                  <a:pt x="0" y="0"/>
                </a:moveTo>
                <a:lnTo>
                  <a:pt x="2381700" y="0"/>
                </a:lnTo>
                <a:lnTo>
                  <a:pt x="2381700" y="6059217"/>
                </a:lnTo>
                <a:lnTo>
                  <a:pt x="0" y="6059217"/>
                </a:lnTo>
                <a:lnTo>
                  <a:pt x="0" y="0"/>
                </a:lnTo>
                <a:close/>
              </a:path>
            </a:pathLst>
          </a:custGeom>
          <a:blipFill>
            <a:blip r:embed="rId4">
              <a:alphaModFix amt="3000"/>
            </a:blip>
            <a:stretch>
              <a:fillRect l="-756686" t="-20398" r="-554838" b="-216016"/>
            </a:stretch>
          </a:blipFill>
        </p:spPr>
      </p:sp>
      <p:sp>
        <p:nvSpPr>
          <p:cNvPr name="AutoShape 4" id="4"/>
          <p:cNvSpPr/>
          <p:nvPr/>
        </p:nvSpPr>
        <p:spPr>
          <a:xfrm>
            <a:off x="1122477" y="2164354"/>
            <a:ext cx="641153" cy="0"/>
          </a:xfrm>
          <a:prstGeom prst="line">
            <a:avLst/>
          </a:prstGeom>
          <a:ln cap="flat" w="114300">
            <a:solidFill>
              <a:srgbClr val="387F7F"/>
            </a:solidFill>
            <a:prstDash val="sysDash"/>
            <a:headEnd type="none" len="sm" w="sm"/>
            <a:tailEnd type="none" len="sm" w="sm"/>
          </a:ln>
        </p:spPr>
      </p:sp>
      <p:sp>
        <p:nvSpPr>
          <p:cNvPr name="Freeform 5" id="5"/>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5"/>
            <a:stretch>
              <a:fillRect l="0" t="-6021" r="-6847" b="-6021"/>
            </a:stretch>
          </a:blipFill>
        </p:spPr>
      </p:sp>
      <p:sp>
        <p:nvSpPr>
          <p:cNvPr name="Freeform 6" id="6"/>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5"/>
            <a:stretch>
              <a:fillRect l="0" t="-6021" r="-6847" b="-6021"/>
            </a:stretch>
          </a:blipFill>
        </p:spPr>
      </p:sp>
      <p:sp>
        <p:nvSpPr>
          <p:cNvPr name="AutoShape 7" id="7"/>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0">
            <a:off x="9962524" y="1819846"/>
            <a:ext cx="7999964" cy="6153819"/>
          </a:xfrm>
          <a:custGeom>
            <a:avLst/>
            <a:gdLst/>
            <a:ahLst/>
            <a:cxnLst/>
            <a:rect r="r" b="b" t="t" l="l"/>
            <a:pathLst>
              <a:path h="6153819" w="7999964">
                <a:moveTo>
                  <a:pt x="0" y="0"/>
                </a:moveTo>
                <a:lnTo>
                  <a:pt x="7999964" y="0"/>
                </a:lnTo>
                <a:lnTo>
                  <a:pt x="7999964" y="6153819"/>
                </a:lnTo>
                <a:lnTo>
                  <a:pt x="0" y="6153819"/>
                </a:lnTo>
                <a:lnTo>
                  <a:pt x="0" y="0"/>
                </a:lnTo>
                <a:close/>
              </a:path>
            </a:pathLst>
          </a:custGeom>
          <a:blipFill>
            <a:blip r:embed="rId6"/>
            <a:stretch>
              <a:fillRect l="0" t="0" r="0" b="0"/>
            </a:stretch>
          </a:blipFill>
        </p:spPr>
      </p:sp>
      <p:sp>
        <p:nvSpPr>
          <p:cNvPr name="TextBox 9" id="9"/>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10" id="10"/>
          <p:cNvSpPr txBox="true"/>
          <p:nvPr/>
        </p:nvSpPr>
        <p:spPr>
          <a:xfrm rot="0">
            <a:off x="1549709" y="832502"/>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387F7F"/>
                </a:solidFill>
                <a:latin typeface="Gotham Bold"/>
                <a:ea typeface="Gotham Bold"/>
                <a:cs typeface="Gotham Bold"/>
                <a:sym typeface="Gotham Bold"/>
              </a:rPr>
              <a:t> Parent D</a:t>
            </a:r>
            <a:r>
              <a:rPr lang="en-US" b="true" sz="2999">
                <a:solidFill>
                  <a:srgbClr val="387F7F"/>
                </a:solidFill>
                <a:latin typeface="Gotham Bold"/>
                <a:ea typeface="Gotham Bold"/>
                <a:cs typeface="Gotham Bold"/>
                <a:sym typeface="Gotham Bold"/>
              </a:rPr>
              <a:t>ocument Retriever</a:t>
            </a:r>
          </a:p>
        </p:txBody>
      </p:sp>
      <p:sp>
        <p:nvSpPr>
          <p:cNvPr name="TextBox 11" id="11"/>
          <p:cNvSpPr txBox="true"/>
          <p:nvPr/>
        </p:nvSpPr>
        <p:spPr>
          <a:xfrm rot="0">
            <a:off x="2568029" y="1527339"/>
            <a:ext cx="6995029" cy="6692265"/>
          </a:xfrm>
          <a:prstGeom prst="rect">
            <a:avLst/>
          </a:prstGeom>
        </p:spPr>
        <p:txBody>
          <a:bodyPr anchor="t" rtlCol="false" tIns="0" lIns="0" bIns="0" rIns="0">
            <a:spAutoFit/>
          </a:bodyPr>
          <a:lstStyle/>
          <a:p>
            <a:pPr algn="just">
              <a:lnSpc>
                <a:spcPts val="3359"/>
              </a:lnSpc>
            </a:pPr>
            <a:r>
              <a:rPr lang="en-US" sz="2400" b="true">
                <a:solidFill>
                  <a:srgbClr val="000000"/>
                </a:solidFill>
                <a:latin typeface="Gotham Bold"/>
                <a:ea typeface="Gotham Bold"/>
                <a:cs typeface="Gotham Bold"/>
                <a:sym typeface="Gotham Bold"/>
              </a:rPr>
              <a:t>Benefits:</a:t>
            </a:r>
          </a:p>
          <a:p>
            <a:pPr algn="just">
              <a:lnSpc>
                <a:spcPts val="3359"/>
              </a:lnSpc>
            </a:pPr>
          </a:p>
          <a:p>
            <a:pPr algn="just" marL="518160" indent="-259080" lvl="1">
              <a:lnSpc>
                <a:spcPts val="3359"/>
              </a:lnSpc>
              <a:buFont typeface="Arial"/>
              <a:buChar char="•"/>
            </a:pPr>
            <a:r>
              <a:rPr lang="en-US" b="true" sz="2400">
                <a:solidFill>
                  <a:srgbClr val="000000"/>
                </a:solidFill>
                <a:latin typeface="Gotham Bold"/>
                <a:ea typeface="Gotham Bold"/>
                <a:cs typeface="Gotham Bold"/>
                <a:sym typeface="Gotham Bold"/>
              </a:rPr>
              <a:t>Improved Context: Provides more context than individual chunks, aiding in better understanding.</a:t>
            </a:r>
          </a:p>
          <a:p>
            <a:pPr algn="just" marL="518160" indent="-259080" lvl="1">
              <a:lnSpc>
                <a:spcPts val="3359"/>
              </a:lnSpc>
              <a:buFont typeface="Arial"/>
              <a:buChar char="•"/>
            </a:pPr>
            <a:r>
              <a:rPr lang="en-US" b="true" sz="2400">
                <a:solidFill>
                  <a:srgbClr val="000000"/>
                </a:solidFill>
                <a:latin typeface="Gotham Bold"/>
                <a:ea typeface="Gotham Bold"/>
                <a:cs typeface="Gotham Bold"/>
                <a:sym typeface="Gotham Bold"/>
              </a:rPr>
              <a:t>Reduced False Positives: By considering t</a:t>
            </a:r>
            <a:r>
              <a:rPr lang="en-US" b="true" sz="2400">
                <a:solidFill>
                  <a:srgbClr val="000000"/>
                </a:solidFill>
                <a:latin typeface="Gotham Bold"/>
                <a:ea typeface="Gotham Bold"/>
                <a:cs typeface="Gotham Bold"/>
                <a:sym typeface="Gotham Bold"/>
              </a:rPr>
              <a:t>he parent document, the retriever can filter out irrelevant chunks that might be semantically similar to the query but are not relevant in the larger context.</a:t>
            </a:r>
          </a:p>
          <a:p>
            <a:pPr algn="just">
              <a:lnSpc>
                <a:spcPts val="3359"/>
              </a:lnSpc>
            </a:pPr>
          </a:p>
          <a:p>
            <a:pPr algn="just">
              <a:lnSpc>
                <a:spcPts val="3359"/>
              </a:lnSpc>
            </a:pPr>
            <a:r>
              <a:rPr lang="en-US" sz="2400" b="true">
                <a:solidFill>
                  <a:srgbClr val="000000"/>
                </a:solidFill>
                <a:latin typeface="Gotham Bold"/>
                <a:ea typeface="Gotham Bold"/>
                <a:cs typeface="Gotham Bold"/>
                <a:sym typeface="Gotham Bold"/>
              </a:rPr>
              <a:t>Use Cases:</a:t>
            </a:r>
          </a:p>
          <a:p>
            <a:pPr algn="just" marL="518160" indent="-259080" lvl="1">
              <a:lnSpc>
                <a:spcPts val="3359"/>
              </a:lnSpc>
              <a:buFont typeface="Arial"/>
              <a:buChar char="•"/>
            </a:pPr>
            <a:r>
              <a:rPr lang="en-US" b="true" sz="2400">
                <a:solidFill>
                  <a:srgbClr val="000000"/>
                </a:solidFill>
                <a:latin typeface="Gotham Bold"/>
                <a:ea typeface="Gotham Bold"/>
                <a:cs typeface="Gotham Bold"/>
                <a:sym typeface="Gotham Bold"/>
              </a:rPr>
              <a:t>Legal Document Retrieval: Retrieving entire legal clauses or sections instead of isolated sentences.</a:t>
            </a:r>
          </a:p>
          <a:p>
            <a:pPr algn="just">
              <a:lnSpc>
                <a:spcPts val="335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3945801">
            <a:off x="17448186" y="2575906"/>
            <a:ext cx="4493816" cy="4776403"/>
            <a:chOff x="0" y="0"/>
            <a:chExt cx="764712" cy="812800"/>
          </a:xfrm>
        </p:grpSpPr>
        <p:sp>
          <p:nvSpPr>
            <p:cNvPr name="Freeform 7" id="7"/>
            <p:cNvSpPr/>
            <p:nvPr/>
          </p:nvSpPr>
          <p:spPr>
            <a:xfrm flipH="false" flipV="false" rot="0">
              <a:off x="0" y="0"/>
              <a:ext cx="764712" cy="812800"/>
            </a:xfrm>
            <a:custGeom>
              <a:avLst/>
              <a:gdLst/>
              <a:ahLst/>
              <a:cxnLst/>
              <a:rect r="r" b="b" t="t" l="l"/>
              <a:pathLst>
                <a:path h="812800" w="764712">
                  <a:moveTo>
                    <a:pt x="382356" y="0"/>
                  </a:moveTo>
                  <a:cubicBezTo>
                    <a:pt x="171187" y="0"/>
                    <a:pt x="0" y="181951"/>
                    <a:pt x="0" y="406400"/>
                  </a:cubicBezTo>
                  <a:cubicBezTo>
                    <a:pt x="0" y="630849"/>
                    <a:pt x="171187" y="812800"/>
                    <a:pt x="382356" y="812800"/>
                  </a:cubicBezTo>
                  <a:cubicBezTo>
                    <a:pt x="593526" y="812800"/>
                    <a:pt x="764712" y="630849"/>
                    <a:pt x="764712" y="406400"/>
                  </a:cubicBezTo>
                  <a:cubicBezTo>
                    <a:pt x="764712" y="181951"/>
                    <a:pt x="593526" y="0"/>
                    <a:pt x="382356" y="0"/>
                  </a:cubicBezTo>
                  <a:close/>
                </a:path>
              </a:pathLst>
            </a:custGeom>
            <a:solidFill>
              <a:srgbClr val="387F7F"/>
            </a:solidFill>
          </p:spPr>
        </p:sp>
        <p:sp>
          <p:nvSpPr>
            <p:cNvPr name="TextBox 8" id="8"/>
            <p:cNvSpPr txBox="true"/>
            <p:nvPr/>
          </p:nvSpPr>
          <p:spPr>
            <a:xfrm>
              <a:off x="71692" y="47625"/>
              <a:ext cx="621329" cy="6889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9514236" y="2194172"/>
            <a:ext cx="7745064" cy="5539872"/>
          </a:xfrm>
          <a:custGeom>
            <a:avLst/>
            <a:gdLst/>
            <a:ahLst/>
            <a:cxnLst/>
            <a:rect r="r" b="b" t="t" l="l"/>
            <a:pathLst>
              <a:path h="5539872" w="7745064">
                <a:moveTo>
                  <a:pt x="0" y="0"/>
                </a:moveTo>
                <a:lnTo>
                  <a:pt x="7745064" y="0"/>
                </a:lnTo>
                <a:lnTo>
                  <a:pt x="7745064" y="5539871"/>
                </a:lnTo>
                <a:lnTo>
                  <a:pt x="0" y="5539871"/>
                </a:lnTo>
                <a:lnTo>
                  <a:pt x="0" y="0"/>
                </a:lnTo>
                <a:close/>
              </a:path>
            </a:pathLst>
          </a:custGeom>
          <a:blipFill>
            <a:blip r:embed="rId5"/>
            <a:stretch>
              <a:fillRect l="0" t="0" r="0" b="0"/>
            </a:stretch>
          </a:blipFill>
        </p:spPr>
      </p:sp>
      <p:sp>
        <p:nvSpPr>
          <p:cNvPr name="TextBox 10" id="10"/>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11" id="11"/>
          <p:cNvSpPr txBox="true"/>
          <p:nvPr/>
        </p:nvSpPr>
        <p:spPr>
          <a:xfrm rot="0">
            <a:off x="-1252975" y="639639"/>
            <a:ext cx="12583639" cy="473549"/>
          </a:xfrm>
          <a:prstGeom prst="rect">
            <a:avLst/>
          </a:prstGeom>
        </p:spPr>
        <p:txBody>
          <a:bodyPr anchor="t" rtlCol="false" tIns="0" lIns="0" bIns="0" rIns="0">
            <a:spAutoFit/>
          </a:bodyPr>
          <a:lstStyle/>
          <a:p>
            <a:pPr algn="ctr">
              <a:lnSpc>
                <a:spcPts val="3530"/>
              </a:lnSpc>
              <a:spcBef>
                <a:spcPct val="0"/>
              </a:spcBef>
            </a:pPr>
            <a:r>
              <a:rPr lang="en-US" b="true" sz="3299">
                <a:solidFill>
                  <a:srgbClr val="000000"/>
                </a:solidFill>
                <a:latin typeface="Gotham Bold"/>
                <a:ea typeface="Gotham Bold"/>
                <a:cs typeface="Gotham Bold"/>
                <a:sym typeface="Gotham Bold"/>
              </a:rPr>
              <a:t>Multiple Q</a:t>
            </a:r>
            <a:r>
              <a:rPr lang="en-US" b="true" sz="3299">
                <a:solidFill>
                  <a:srgbClr val="000000"/>
                </a:solidFill>
                <a:latin typeface="Gotham Bold"/>
                <a:ea typeface="Gotham Bold"/>
                <a:cs typeface="Gotham Bold"/>
                <a:sym typeface="Gotham Bold"/>
              </a:rPr>
              <a:t>uery Retriever</a:t>
            </a:r>
          </a:p>
        </p:txBody>
      </p:sp>
      <p:sp>
        <p:nvSpPr>
          <p:cNvPr name="TextBox 12" id="12"/>
          <p:cNvSpPr txBox="true"/>
          <p:nvPr/>
        </p:nvSpPr>
        <p:spPr>
          <a:xfrm rot="0">
            <a:off x="1602423" y="1877725"/>
            <a:ext cx="7330633" cy="8319757"/>
          </a:xfrm>
          <a:prstGeom prst="rect">
            <a:avLst/>
          </a:prstGeom>
        </p:spPr>
        <p:txBody>
          <a:bodyPr anchor="t" rtlCol="false" tIns="0" lIns="0" bIns="0" rIns="0">
            <a:spAutoFit/>
          </a:bodyPr>
          <a:lstStyle/>
          <a:p>
            <a:pPr algn="just">
              <a:lnSpc>
                <a:spcPts val="3499"/>
              </a:lnSpc>
            </a:pPr>
            <a:r>
              <a:rPr lang="en-US" sz="2499" b="true">
                <a:solidFill>
                  <a:srgbClr val="000000"/>
                </a:solidFill>
                <a:latin typeface="Gotham Bold"/>
                <a:ea typeface="Gotham Bold"/>
                <a:cs typeface="Gotham Bold"/>
                <a:sym typeface="Gotham Bold"/>
              </a:rPr>
              <a:t>Problem:</a:t>
            </a: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T</a:t>
            </a:r>
            <a:r>
              <a:rPr lang="en-US" b="true" sz="2499">
                <a:solidFill>
                  <a:srgbClr val="000000"/>
                </a:solidFill>
                <a:latin typeface="Gotham Bold"/>
                <a:ea typeface="Gotham Bold"/>
                <a:cs typeface="Gotham Bold"/>
                <a:sym typeface="Gotham Bold"/>
              </a:rPr>
              <a:t>raditional retrieval methods often miss relevant information by relying on a single query formulation.</a:t>
            </a: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Im</a:t>
            </a:r>
            <a:r>
              <a:rPr lang="en-US" b="true" sz="2499">
                <a:solidFill>
                  <a:srgbClr val="000000"/>
                </a:solidFill>
                <a:latin typeface="Gotham Bold"/>
                <a:ea typeface="Gotham Bold"/>
                <a:cs typeface="Gotham Bold"/>
                <a:sym typeface="Gotham Bold"/>
              </a:rPr>
              <a:t>portant context can be lost when retrieving documents based on a single perspective.</a:t>
            </a:r>
          </a:p>
          <a:p>
            <a:pPr algn="just">
              <a:lnSpc>
                <a:spcPts val="3499"/>
              </a:lnSpc>
            </a:pPr>
          </a:p>
          <a:p>
            <a:pPr algn="just">
              <a:lnSpc>
                <a:spcPts val="3499"/>
              </a:lnSpc>
            </a:pPr>
            <a:r>
              <a:rPr lang="en-US" sz="2499" b="true">
                <a:solidFill>
                  <a:srgbClr val="000000"/>
                </a:solidFill>
                <a:latin typeface="Gotham Bold"/>
                <a:ea typeface="Gotham Bold"/>
                <a:cs typeface="Gotham Bold"/>
                <a:sym typeface="Gotham Bold"/>
              </a:rPr>
              <a:t>solution : </a:t>
            </a: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Multi-Query Approach Rewrites the original query from multiple perspectives.</a:t>
            </a: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This method improves retrieval accuracy by capturing diverse aspects of the query, ensuring more comprehensive context.</a:t>
            </a:r>
          </a:p>
          <a:p>
            <a:pPr algn="just">
              <a:lnSpc>
                <a:spcPts val="3499"/>
              </a:lnSpc>
              <a:spcBef>
                <a:spcPct val="0"/>
              </a:spcBef>
            </a:pPr>
          </a:p>
          <a:p>
            <a:pPr algn="just">
              <a:lnSpc>
                <a:spcPts val="3499"/>
              </a:lnSpc>
              <a:spcBef>
                <a:spcPct val="0"/>
              </a:spcBef>
            </a:pPr>
          </a:p>
          <a:p>
            <a:pPr algn="just">
              <a:lnSpc>
                <a:spcPts val="3499"/>
              </a:lnSpc>
              <a:spcBef>
                <a:spcPct val="0"/>
              </a:spcBef>
            </a:pPr>
          </a:p>
          <a:p>
            <a:pPr algn="just">
              <a:lnSpc>
                <a:spcPts val="34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3945801">
            <a:off x="17448186" y="2575906"/>
            <a:ext cx="4493816" cy="4776403"/>
            <a:chOff x="0" y="0"/>
            <a:chExt cx="764712" cy="812800"/>
          </a:xfrm>
        </p:grpSpPr>
        <p:sp>
          <p:nvSpPr>
            <p:cNvPr name="Freeform 7" id="7"/>
            <p:cNvSpPr/>
            <p:nvPr/>
          </p:nvSpPr>
          <p:spPr>
            <a:xfrm flipH="false" flipV="false" rot="0">
              <a:off x="0" y="0"/>
              <a:ext cx="764712" cy="812800"/>
            </a:xfrm>
            <a:custGeom>
              <a:avLst/>
              <a:gdLst/>
              <a:ahLst/>
              <a:cxnLst/>
              <a:rect r="r" b="b" t="t" l="l"/>
              <a:pathLst>
                <a:path h="812800" w="764712">
                  <a:moveTo>
                    <a:pt x="382356" y="0"/>
                  </a:moveTo>
                  <a:cubicBezTo>
                    <a:pt x="171187" y="0"/>
                    <a:pt x="0" y="181951"/>
                    <a:pt x="0" y="406400"/>
                  </a:cubicBezTo>
                  <a:cubicBezTo>
                    <a:pt x="0" y="630849"/>
                    <a:pt x="171187" y="812800"/>
                    <a:pt x="382356" y="812800"/>
                  </a:cubicBezTo>
                  <a:cubicBezTo>
                    <a:pt x="593526" y="812800"/>
                    <a:pt x="764712" y="630849"/>
                    <a:pt x="764712" y="406400"/>
                  </a:cubicBezTo>
                  <a:cubicBezTo>
                    <a:pt x="764712" y="181951"/>
                    <a:pt x="593526" y="0"/>
                    <a:pt x="382356" y="0"/>
                  </a:cubicBezTo>
                  <a:close/>
                </a:path>
              </a:pathLst>
            </a:custGeom>
            <a:solidFill>
              <a:srgbClr val="387F7F"/>
            </a:solidFill>
          </p:spPr>
        </p:sp>
        <p:sp>
          <p:nvSpPr>
            <p:cNvPr name="TextBox 8" id="8"/>
            <p:cNvSpPr txBox="true"/>
            <p:nvPr/>
          </p:nvSpPr>
          <p:spPr>
            <a:xfrm>
              <a:off x="71692" y="47625"/>
              <a:ext cx="621329" cy="6889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304230" y="2124565"/>
            <a:ext cx="7745064" cy="6780148"/>
          </a:xfrm>
          <a:custGeom>
            <a:avLst/>
            <a:gdLst/>
            <a:ahLst/>
            <a:cxnLst/>
            <a:rect r="r" b="b" t="t" l="l"/>
            <a:pathLst>
              <a:path h="6780148" w="7745064">
                <a:moveTo>
                  <a:pt x="0" y="0"/>
                </a:moveTo>
                <a:lnTo>
                  <a:pt x="7745064" y="0"/>
                </a:lnTo>
                <a:lnTo>
                  <a:pt x="7745064" y="6780148"/>
                </a:lnTo>
                <a:lnTo>
                  <a:pt x="0" y="6780148"/>
                </a:lnTo>
                <a:lnTo>
                  <a:pt x="0" y="0"/>
                </a:lnTo>
                <a:close/>
              </a:path>
            </a:pathLst>
          </a:custGeom>
          <a:blipFill>
            <a:blip r:embed="rId5"/>
            <a:stretch>
              <a:fillRect l="0" t="-19907" r="0" b="-1615"/>
            </a:stretch>
          </a:blipFill>
        </p:spPr>
      </p:sp>
      <p:sp>
        <p:nvSpPr>
          <p:cNvPr name="TextBox 10" id="10"/>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11" id="11"/>
          <p:cNvSpPr txBox="true"/>
          <p:nvPr/>
        </p:nvSpPr>
        <p:spPr>
          <a:xfrm rot="0">
            <a:off x="-1749085" y="725964"/>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000000"/>
                </a:solidFill>
                <a:latin typeface="Gotham Bold"/>
                <a:ea typeface="Gotham Bold"/>
                <a:cs typeface="Gotham Bold"/>
                <a:sym typeface="Gotham Bold"/>
              </a:rPr>
              <a:t>Multiple Q</a:t>
            </a:r>
            <a:r>
              <a:rPr lang="en-US" b="true" sz="2999">
                <a:solidFill>
                  <a:srgbClr val="000000"/>
                </a:solidFill>
                <a:latin typeface="Gotham Bold"/>
                <a:ea typeface="Gotham Bold"/>
                <a:cs typeface="Gotham Bold"/>
                <a:sym typeface="Gotham Bold"/>
              </a:rPr>
              <a:t>uery Retriever</a:t>
            </a:r>
          </a:p>
        </p:txBody>
      </p:sp>
      <p:sp>
        <p:nvSpPr>
          <p:cNvPr name="TextBox 12" id="12"/>
          <p:cNvSpPr txBox="true"/>
          <p:nvPr/>
        </p:nvSpPr>
        <p:spPr>
          <a:xfrm rot="0">
            <a:off x="2188088" y="1286592"/>
            <a:ext cx="8001842" cy="8221306"/>
          </a:xfrm>
          <a:prstGeom prst="rect">
            <a:avLst/>
          </a:prstGeom>
        </p:spPr>
        <p:txBody>
          <a:bodyPr anchor="t" rtlCol="false" tIns="0" lIns="0" bIns="0" rIns="0">
            <a:spAutoFit/>
          </a:bodyPr>
          <a:lstStyle/>
          <a:p>
            <a:pPr algn="just">
              <a:lnSpc>
                <a:spcPts val="3639"/>
              </a:lnSpc>
            </a:pPr>
            <a:r>
              <a:rPr lang="en-US" sz="2599" b="true">
                <a:solidFill>
                  <a:srgbClr val="000000"/>
                </a:solidFill>
                <a:latin typeface="Gotham Bold"/>
                <a:ea typeface="Gotham Bold"/>
                <a:cs typeface="Gotham Bold"/>
                <a:sym typeface="Gotham Bold"/>
              </a:rPr>
              <a:t>How it Works:</a:t>
            </a:r>
          </a:p>
          <a:p>
            <a:pPr algn="just">
              <a:lnSpc>
                <a:spcPts val="3639"/>
              </a:lnSpc>
            </a:pPr>
          </a:p>
          <a:p>
            <a:pPr algn="just" marL="561339" indent="-280669" lvl="1">
              <a:lnSpc>
                <a:spcPts val="3639"/>
              </a:lnSpc>
              <a:buAutoNum type="arabicPeriod" startAt="1"/>
            </a:pPr>
            <a:r>
              <a:rPr lang="en-US" b="true" sz="2599">
                <a:solidFill>
                  <a:srgbClr val="000000"/>
                </a:solidFill>
                <a:latin typeface="Gotham Bold"/>
                <a:ea typeface="Gotham Bold"/>
                <a:cs typeface="Gotham Bold"/>
                <a:sym typeface="Gotham Bold"/>
              </a:rPr>
              <a:t>Query Expansion: </a:t>
            </a:r>
            <a:r>
              <a:rPr lang="en-US" b="true" sz="2599">
                <a:solidFill>
                  <a:srgbClr val="000000"/>
                </a:solidFill>
                <a:latin typeface="Gotham Bold"/>
                <a:ea typeface="Gotham Bold"/>
                <a:cs typeface="Gotham Bold"/>
                <a:sym typeface="Gotham Bold"/>
              </a:rPr>
              <a:t>The o</a:t>
            </a:r>
            <a:r>
              <a:rPr lang="en-US" b="true" sz="2599">
                <a:solidFill>
                  <a:srgbClr val="000000"/>
                </a:solidFill>
                <a:latin typeface="Gotham Bold"/>
                <a:ea typeface="Gotham Bold"/>
                <a:cs typeface="Gotham Bold"/>
                <a:sym typeface="Gotham Bold"/>
              </a:rPr>
              <a:t>riginal query is expanded into multiple related queries using techniques like: </a:t>
            </a:r>
          </a:p>
          <a:p>
            <a:pPr algn="just">
              <a:lnSpc>
                <a:spcPts val="3639"/>
              </a:lnSpc>
            </a:pPr>
          </a:p>
          <a:p>
            <a:pPr algn="just" marL="1122678" indent="-374226" lvl="2">
              <a:lnSpc>
                <a:spcPts val="3639"/>
              </a:lnSpc>
              <a:buFont typeface="Arial"/>
              <a:buChar char="⚬"/>
            </a:pPr>
            <a:r>
              <a:rPr lang="en-US" b="true" sz="2599">
                <a:solidFill>
                  <a:srgbClr val="000000"/>
                </a:solidFill>
                <a:latin typeface="Gotham Bold"/>
                <a:ea typeface="Gotham Bold"/>
                <a:cs typeface="Gotham Bold"/>
                <a:sym typeface="Gotham Bold"/>
              </a:rPr>
              <a:t>Re</a:t>
            </a:r>
            <a:r>
              <a:rPr lang="en-US" b="true" sz="2599">
                <a:solidFill>
                  <a:srgbClr val="000000"/>
                </a:solidFill>
                <a:latin typeface="Gotham Bold"/>
                <a:ea typeface="Gotham Bold"/>
                <a:cs typeface="Gotham Bold"/>
                <a:sym typeface="Gotham Bold"/>
              </a:rPr>
              <a:t>phrasing the query in different ways.</a:t>
            </a:r>
          </a:p>
          <a:p>
            <a:pPr algn="just" marL="1122678" indent="-374226" lvl="2">
              <a:lnSpc>
                <a:spcPts val="3639"/>
              </a:lnSpc>
              <a:buFont typeface="Arial"/>
              <a:buChar char="⚬"/>
            </a:pPr>
            <a:r>
              <a:rPr lang="en-US" b="true" sz="2599">
                <a:solidFill>
                  <a:srgbClr val="000000"/>
                </a:solidFill>
                <a:latin typeface="Gotham Bold"/>
                <a:ea typeface="Gotham Bold"/>
                <a:cs typeface="Gotham Bold"/>
                <a:sym typeface="Gotham Bold"/>
              </a:rPr>
              <a:t> Generating queries that focus on different aspects of the original query.</a:t>
            </a:r>
          </a:p>
          <a:p>
            <a:pPr algn="just">
              <a:lnSpc>
                <a:spcPts val="3639"/>
              </a:lnSpc>
            </a:pPr>
          </a:p>
          <a:p>
            <a:pPr algn="just" marL="561339" indent="-280669" lvl="1">
              <a:lnSpc>
                <a:spcPts val="3639"/>
              </a:lnSpc>
              <a:buAutoNum type="arabicPeriod" startAt="1"/>
            </a:pPr>
            <a:r>
              <a:rPr lang="en-US" b="true" sz="2599">
                <a:solidFill>
                  <a:srgbClr val="000000"/>
                </a:solidFill>
                <a:latin typeface="Gotham Bold"/>
                <a:ea typeface="Gotham Bold"/>
                <a:cs typeface="Gotham Bold"/>
                <a:sym typeface="Gotham Bold"/>
              </a:rPr>
              <a:t>Retrieval with Multiple Queries: Each generated query is used to retrieve relevant documents or chunks from the index.</a:t>
            </a:r>
          </a:p>
          <a:p>
            <a:pPr algn="just">
              <a:lnSpc>
                <a:spcPts val="3639"/>
              </a:lnSpc>
            </a:pPr>
          </a:p>
          <a:p>
            <a:pPr algn="just" marL="561339" indent="-280669" lvl="1">
              <a:lnSpc>
                <a:spcPts val="3639"/>
              </a:lnSpc>
              <a:buAutoNum type="arabicPeriod" startAt="1"/>
            </a:pPr>
            <a:r>
              <a:rPr lang="en-US" b="true" sz="2599">
                <a:solidFill>
                  <a:srgbClr val="000000"/>
                </a:solidFill>
                <a:latin typeface="Gotham Bold"/>
                <a:ea typeface="Gotham Bold"/>
                <a:cs typeface="Gotham Bold"/>
                <a:sym typeface="Gotham Bold"/>
              </a:rPr>
              <a:t>Result Aggregation: The results from all queries are combined and ranked based on relevance scores.</a:t>
            </a:r>
          </a:p>
          <a:p>
            <a:pPr algn="just">
              <a:lnSpc>
                <a:spcPts val="363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3945801">
            <a:off x="17448186" y="2575906"/>
            <a:ext cx="4493816" cy="4776403"/>
            <a:chOff x="0" y="0"/>
            <a:chExt cx="764712" cy="812800"/>
          </a:xfrm>
        </p:grpSpPr>
        <p:sp>
          <p:nvSpPr>
            <p:cNvPr name="Freeform 7" id="7"/>
            <p:cNvSpPr/>
            <p:nvPr/>
          </p:nvSpPr>
          <p:spPr>
            <a:xfrm flipH="false" flipV="false" rot="0">
              <a:off x="0" y="0"/>
              <a:ext cx="764712" cy="812800"/>
            </a:xfrm>
            <a:custGeom>
              <a:avLst/>
              <a:gdLst/>
              <a:ahLst/>
              <a:cxnLst/>
              <a:rect r="r" b="b" t="t" l="l"/>
              <a:pathLst>
                <a:path h="812800" w="764712">
                  <a:moveTo>
                    <a:pt x="382356" y="0"/>
                  </a:moveTo>
                  <a:cubicBezTo>
                    <a:pt x="171187" y="0"/>
                    <a:pt x="0" y="181951"/>
                    <a:pt x="0" y="406400"/>
                  </a:cubicBezTo>
                  <a:cubicBezTo>
                    <a:pt x="0" y="630849"/>
                    <a:pt x="171187" y="812800"/>
                    <a:pt x="382356" y="812800"/>
                  </a:cubicBezTo>
                  <a:cubicBezTo>
                    <a:pt x="593526" y="812800"/>
                    <a:pt x="764712" y="630849"/>
                    <a:pt x="764712" y="406400"/>
                  </a:cubicBezTo>
                  <a:cubicBezTo>
                    <a:pt x="764712" y="181951"/>
                    <a:pt x="593526" y="0"/>
                    <a:pt x="382356" y="0"/>
                  </a:cubicBezTo>
                  <a:close/>
                </a:path>
              </a:pathLst>
            </a:custGeom>
            <a:solidFill>
              <a:srgbClr val="387F7F"/>
            </a:solidFill>
          </p:spPr>
        </p:sp>
        <p:sp>
          <p:nvSpPr>
            <p:cNvPr name="TextBox 8" id="8"/>
            <p:cNvSpPr txBox="true"/>
            <p:nvPr/>
          </p:nvSpPr>
          <p:spPr>
            <a:xfrm>
              <a:off x="71692" y="47625"/>
              <a:ext cx="621329" cy="68897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10" id="10"/>
          <p:cNvSpPr txBox="true"/>
          <p:nvPr/>
        </p:nvSpPr>
        <p:spPr>
          <a:xfrm rot="0">
            <a:off x="-3439639" y="1237789"/>
            <a:ext cx="12583639" cy="441639"/>
          </a:xfrm>
          <a:prstGeom prst="rect">
            <a:avLst/>
          </a:prstGeom>
        </p:spPr>
        <p:txBody>
          <a:bodyPr anchor="t" rtlCol="false" tIns="0" lIns="0" bIns="0" rIns="0">
            <a:spAutoFit/>
          </a:bodyPr>
          <a:lstStyle/>
          <a:p>
            <a:pPr algn="ctr">
              <a:lnSpc>
                <a:spcPts val="3316"/>
              </a:lnSpc>
              <a:spcBef>
                <a:spcPct val="0"/>
              </a:spcBef>
            </a:pPr>
            <a:r>
              <a:rPr lang="en-US" b="true" sz="3099">
                <a:solidFill>
                  <a:srgbClr val="2E686A"/>
                </a:solidFill>
                <a:latin typeface="Gotham Bold"/>
                <a:ea typeface="Gotham Bold"/>
                <a:cs typeface="Gotham Bold"/>
                <a:sym typeface="Gotham Bold"/>
              </a:rPr>
              <a:t>RAPTOR</a:t>
            </a:r>
          </a:p>
        </p:txBody>
      </p:sp>
      <p:sp>
        <p:nvSpPr>
          <p:cNvPr name="TextBox 11" id="11"/>
          <p:cNvSpPr txBox="true"/>
          <p:nvPr/>
        </p:nvSpPr>
        <p:spPr>
          <a:xfrm rot="0">
            <a:off x="1475013" y="2006753"/>
            <a:ext cx="7001659" cy="6127750"/>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RAG systems must handle specific (single-doc) and broad (multi-doc) questions that span many documents, which is challenging with typical retrieval methods.</a:t>
            </a:r>
          </a:p>
          <a:p>
            <a:pPr algn="just">
              <a:lnSpc>
                <a:spcPts val="3499"/>
              </a:lnSpc>
            </a:pP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Raptor: Creates a tree of summaries by recursively clustering and summarizing documents. Captures both fine details and high-level concepts. </a:t>
            </a:r>
            <a:r>
              <a:rPr lang="en-US" b="true" sz="2499">
                <a:solidFill>
                  <a:srgbClr val="000000"/>
                </a:solidFill>
                <a:latin typeface="Gotham Bold"/>
                <a:ea typeface="Gotham Bold"/>
                <a:cs typeface="Gotham Bold"/>
                <a:sym typeface="Gotham Bold"/>
              </a:rPr>
              <a:t>Indexes summaries and original documents,     providing coverage across all user questions.</a:t>
            </a:r>
          </a:p>
          <a:p>
            <a:pPr algn="just">
              <a:lnSpc>
                <a:spcPts val="3499"/>
              </a:lnSpc>
              <a:spcBef>
                <a:spcPct val="0"/>
              </a:spcBef>
            </a:pPr>
          </a:p>
        </p:txBody>
      </p:sp>
      <p:sp>
        <p:nvSpPr>
          <p:cNvPr name="TextBox 12" id="12"/>
          <p:cNvSpPr txBox="true"/>
          <p:nvPr/>
        </p:nvSpPr>
        <p:spPr>
          <a:xfrm rot="0">
            <a:off x="9498115" y="2006753"/>
            <a:ext cx="7001659" cy="5689600"/>
          </a:xfrm>
          <a:prstGeom prst="rect">
            <a:avLst/>
          </a:prstGeom>
        </p:spPr>
        <p:txBody>
          <a:bodyPr anchor="t" rtlCol="false" tIns="0" lIns="0" bIns="0" rIns="0">
            <a:spAutoFit/>
          </a:bodyPr>
          <a:lstStyle/>
          <a:p>
            <a:pPr algn="just">
              <a:lnSpc>
                <a:spcPts val="3499"/>
              </a:lnSpc>
            </a:pPr>
            <a:r>
              <a:rPr lang="en-US" b="true" sz="2499">
                <a:solidFill>
                  <a:srgbClr val="000000"/>
                </a:solidFill>
                <a:latin typeface="Gotham Bold"/>
                <a:ea typeface="Gotham Bold"/>
                <a:cs typeface="Gotham Bold"/>
                <a:sym typeface="Gotham Bold"/>
              </a:rPr>
              <a:t>RAPTOR solves the retrieval-scope mismatch problem — where basic RAG fails to handle both fine-detail questions and broad, cross-document questions. It does this by building a tree of summaries that provides:</a:t>
            </a:r>
          </a:p>
          <a:p>
            <a:pPr algn="just">
              <a:lnSpc>
                <a:spcPts val="3499"/>
              </a:lnSpc>
            </a:pP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Local information</a:t>
            </a: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Mid-level </a:t>
            </a:r>
            <a:r>
              <a:rPr lang="en-US" b="true" sz="2499">
                <a:solidFill>
                  <a:srgbClr val="000000"/>
                </a:solidFill>
                <a:latin typeface="Gotham Bold"/>
                <a:ea typeface="Gotham Bold"/>
                <a:cs typeface="Gotham Bold"/>
                <a:sym typeface="Gotham Bold"/>
              </a:rPr>
              <a:t>summaries</a:t>
            </a:r>
          </a:p>
          <a:p>
            <a:pPr algn="just" marL="539749" indent="-269875" lvl="1">
              <a:lnSpc>
                <a:spcPts val="3499"/>
              </a:lnSpc>
              <a:buFont typeface="Arial"/>
              <a:buChar char="•"/>
            </a:pPr>
            <a:r>
              <a:rPr lang="en-US" b="true" sz="2499">
                <a:solidFill>
                  <a:srgbClr val="000000"/>
                </a:solidFill>
                <a:latin typeface="Gotham Bold"/>
                <a:ea typeface="Gotham Bold"/>
                <a:cs typeface="Gotham Bold"/>
                <a:sym typeface="Gotham Bold"/>
              </a:rPr>
              <a:t>Global, cross-document understanding</a:t>
            </a:r>
          </a:p>
          <a:p>
            <a:pPr algn="just">
              <a:lnSpc>
                <a:spcPts val="3499"/>
              </a:lnSpc>
            </a:pPr>
          </a:p>
          <a:p>
            <a:pPr algn="just">
              <a:lnSpc>
                <a:spcPts val="3499"/>
              </a:lnSpc>
            </a:pPr>
            <a:r>
              <a:rPr lang="en-US" b="true" sz="2499">
                <a:solidFill>
                  <a:srgbClr val="000000"/>
                </a:solidFill>
                <a:latin typeface="Gotham Bold"/>
                <a:ea typeface="Gotham Bold"/>
                <a:cs typeface="Gotham Bold"/>
                <a:sym typeface="Gotham Bold"/>
              </a:rPr>
              <a:t>All in one structure.</a:t>
            </a:r>
          </a:p>
          <a:p>
            <a:pPr algn="just">
              <a:lnSpc>
                <a:spcPts val="349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8842414" y="2824182"/>
            <a:ext cx="9576909" cy="4206075"/>
          </a:xfrm>
          <a:custGeom>
            <a:avLst/>
            <a:gdLst/>
            <a:ahLst/>
            <a:cxnLst/>
            <a:rect r="r" b="b" t="t" l="l"/>
            <a:pathLst>
              <a:path h="4206075" w="9576909">
                <a:moveTo>
                  <a:pt x="0" y="0"/>
                </a:moveTo>
                <a:lnTo>
                  <a:pt x="9576909" y="0"/>
                </a:lnTo>
                <a:lnTo>
                  <a:pt x="9576909" y="4206074"/>
                </a:lnTo>
                <a:lnTo>
                  <a:pt x="0" y="4206074"/>
                </a:lnTo>
                <a:lnTo>
                  <a:pt x="0" y="0"/>
                </a:lnTo>
                <a:close/>
              </a:path>
            </a:pathLst>
          </a:custGeom>
          <a:blipFill>
            <a:blip r:embed="rId5"/>
            <a:stretch>
              <a:fillRect l="0" t="0" r="0" b="0"/>
            </a:stretch>
          </a:blipFill>
        </p:spPr>
      </p:sp>
      <p:sp>
        <p:nvSpPr>
          <p:cNvPr name="TextBox 7" id="7"/>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8" id="8"/>
          <p:cNvSpPr txBox="true"/>
          <p:nvPr/>
        </p:nvSpPr>
        <p:spPr>
          <a:xfrm rot="0">
            <a:off x="-2814264" y="832502"/>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2E686A"/>
                </a:solidFill>
                <a:latin typeface="Gotham Bold"/>
                <a:ea typeface="Gotham Bold"/>
                <a:cs typeface="Gotham Bold"/>
                <a:sym typeface="Gotham Bold"/>
              </a:rPr>
              <a:t>RAPTOR</a:t>
            </a:r>
          </a:p>
        </p:txBody>
      </p:sp>
      <p:sp>
        <p:nvSpPr>
          <p:cNvPr name="TextBox 9" id="9"/>
          <p:cNvSpPr txBox="true"/>
          <p:nvPr/>
        </p:nvSpPr>
        <p:spPr>
          <a:xfrm rot="0">
            <a:off x="1475013" y="1446413"/>
            <a:ext cx="7159094" cy="7446867"/>
          </a:xfrm>
          <a:prstGeom prst="rect">
            <a:avLst/>
          </a:prstGeom>
        </p:spPr>
        <p:txBody>
          <a:bodyPr anchor="t" rtlCol="false" tIns="0" lIns="0" bIns="0" rIns="0">
            <a:spAutoFit/>
          </a:bodyPr>
          <a:lstStyle/>
          <a:p>
            <a:pPr algn="just">
              <a:lnSpc>
                <a:spcPts val="4011"/>
              </a:lnSpc>
            </a:pPr>
            <a:r>
              <a:rPr lang="en-US" sz="2865" b="true">
                <a:solidFill>
                  <a:srgbClr val="000000"/>
                </a:solidFill>
                <a:latin typeface="Gotham Bold"/>
                <a:ea typeface="Gotham Bold"/>
                <a:cs typeface="Gotham Bold"/>
                <a:sym typeface="Gotham Bold"/>
              </a:rPr>
              <a:t>Benefits:</a:t>
            </a:r>
          </a:p>
          <a:p>
            <a:pPr algn="just" marL="530313" indent="-265157" lvl="1">
              <a:lnSpc>
                <a:spcPts val="3438"/>
              </a:lnSpc>
              <a:buFont typeface="Arial"/>
              <a:buChar char="•"/>
            </a:pPr>
            <a:r>
              <a:rPr lang="en-US" b="true" sz="2456">
                <a:solidFill>
                  <a:srgbClr val="000000"/>
                </a:solidFill>
                <a:latin typeface="Gotham Bold"/>
                <a:ea typeface="Gotham Bold"/>
                <a:cs typeface="Gotham Bold"/>
                <a:sym typeface="Gotham Bold"/>
              </a:rPr>
              <a:t>Improved</a:t>
            </a:r>
            <a:r>
              <a:rPr lang="en-US" b="true" sz="2456">
                <a:solidFill>
                  <a:srgbClr val="000000"/>
                </a:solidFill>
                <a:latin typeface="Gotham Bold"/>
                <a:ea typeface="Gotham Bold"/>
                <a:cs typeface="Gotham Bold"/>
                <a:sym typeface="Gotham Bold"/>
              </a:rPr>
              <a:t> Coherence: Ensures that the retrieved passages are presented in a logical and coherent order.</a:t>
            </a:r>
          </a:p>
          <a:p>
            <a:pPr algn="just">
              <a:lnSpc>
                <a:spcPts val="3438"/>
              </a:lnSpc>
            </a:pPr>
          </a:p>
          <a:p>
            <a:pPr algn="just" marL="530313" indent="-265157" lvl="1">
              <a:lnSpc>
                <a:spcPts val="3438"/>
              </a:lnSpc>
              <a:buFont typeface="Arial"/>
              <a:buChar char="•"/>
            </a:pPr>
            <a:r>
              <a:rPr lang="en-US" b="true" sz="2456">
                <a:solidFill>
                  <a:srgbClr val="000000"/>
                </a:solidFill>
                <a:latin typeface="Gotham Bold"/>
                <a:ea typeface="Gotham Bold"/>
                <a:cs typeface="Gotham Bold"/>
                <a:sym typeface="Gotham Bold"/>
              </a:rPr>
              <a:t>Enhanced Relevance: Prioritizes passages that are most relevant to the query.</a:t>
            </a:r>
          </a:p>
          <a:p>
            <a:pPr algn="just">
              <a:lnSpc>
                <a:spcPts val="3438"/>
              </a:lnSpc>
            </a:pPr>
          </a:p>
          <a:p>
            <a:pPr algn="just">
              <a:lnSpc>
                <a:spcPts val="4011"/>
              </a:lnSpc>
            </a:pPr>
            <a:r>
              <a:rPr lang="en-US" sz="2865" b="true">
                <a:solidFill>
                  <a:srgbClr val="000000"/>
                </a:solidFill>
                <a:latin typeface="Gotham Bold"/>
                <a:ea typeface="Gotham Bold"/>
                <a:cs typeface="Gotham Bold"/>
                <a:sym typeface="Gotham Bold"/>
              </a:rPr>
              <a:t>Use Cases:</a:t>
            </a:r>
          </a:p>
          <a:p>
            <a:pPr algn="just">
              <a:lnSpc>
                <a:spcPts val="3438"/>
              </a:lnSpc>
            </a:pPr>
          </a:p>
          <a:p>
            <a:pPr algn="just" marL="530313" indent="-265157" lvl="1">
              <a:lnSpc>
                <a:spcPts val="3438"/>
              </a:lnSpc>
              <a:buFont typeface="Arial"/>
              <a:buChar char="•"/>
            </a:pPr>
            <a:r>
              <a:rPr lang="en-US" b="true" sz="2456">
                <a:solidFill>
                  <a:srgbClr val="000000"/>
                </a:solidFill>
                <a:latin typeface="Gotham Bold"/>
                <a:ea typeface="Gotham Bold"/>
                <a:cs typeface="Gotham Bold"/>
                <a:sym typeface="Gotham Bold"/>
              </a:rPr>
              <a:t>Summarization: Generating coh</a:t>
            </a:r>
            <a:r>
              <a:rPr lang="en-US" b="true" sz="2456">
                <a:solidFill>
                  <a:srgbClr val="000000"/>
                </a:solidFill>
                <a:latin typeface="Gotham Bold"/>
                <a:ea typeface="Gotham Bold"/>
                <a:cs typeface="Gotham Bold"/>
                <a:sym typeface="Gotham Bold"/>
              </a:rPr>
              <a:t>erent summaries from multiple documents.</a:t>
            </a:r>
          </a:p>
          <a:p>
            <a:pPr algn="just" marL="530313" indent="-265157" lvl="1">
              <a:lnSpc>
                <a:spcPts val="3438"/>
              </a:lnSpc>
              <a:buFont typeface="Arial"/>
              <a:buChar char="•"/>
            </a:pPr>
            <a:r>
              <a:rPr lang="en-US" b="true" sz="2456">
                <a:solidFill>
                  <a:srgbClr val="000000"/>
                </a:solidFill>
                <a:latin typeface="Gotham Bold"/>
                <a:ea typeface="Gotham Bold"/>
                <a:cs typeface="Gotham Bold"/>
                <a:sym typeface="Gotham Bold"/>
              </a:rPr>
              <a:t>Question Answering: Providing comprehensive and well-structured answers to complex questions.</a:t>
            </a:r>
          </a:p>
          <a:p>
            <a:pPr algn="just">
              <a:lnSpc>
                <a:spcPts val="3438"/>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3945801">
            <a:off x="17448186" y="2575906"/>
            <a:ext cx="4493816" cy="4776403"/>
            <a:chOff x="0" y="0"/>
            <a:chExt cx="764712" cy="812800"/>
          </a:xfrm>
        </p:grpSpPr>
        <p:sp>
          <p:nvSpPr>
            <p:cNvPr name="Freeform 7" id="7"/>
            <p:cNvSpPr/>
            <p:nvPr/>
          </p:nvSpPr>
          <p:spPr>
            <a:xfrm flipH="false" flipV="false" rot="0">
              <a:off x="0" y="0"/>
              <a:ext cx="764712" cy="812800"/>
            </a:xfrm>
            <a:custGeom>
              <a:avLst/>
              <a:gdLst/>
              <a:ahLst/>
              <a:cxnLst/>
              <a:rect r="r" b="b" t="t" l="l"/>
              <a:pathLst>
                <a:path h="812800" w="764712">
                  <a:moveTo>
                    <a:pt x="382356" y="0"/>
                  </a:moveTo>
                  <a:cubicBezTo>
                    <a:pt x="171187" y="0"/>
                    <a:pt x="0" y="181951"/>
                    <a:pt x="0" y="406400"/>
                  </a:cubicBezTo>
                  <a:cubicBezTo>
                    <a:pt x="0" y="630849"/>
                    <a:pt x="171187" y="812800"/>
                    <a:pt x="382356" y="812800"/>
                  </a:cubicBezTo>
                  <a:cubicBezTo>
                    <a:pt x="593526" y="812800"/>
                    <a:pt x="764712" y="630849"/>
                    <a:pt x="764712" y="406400"/>
                  </a:cubicBezTo>
                  <a:cubicBezTo>
                    <a:pt x="764712" y="181951"/>
                    <a:pt x="593526" y="0"/>
                    <a:pt x="382356" y="0"/>
                  </a:cubicBezTo>
                  <a:close/>
                </a:path>
              </a:pathLst>
            </a:custGeom>
            <a:solidFill>
              <a:srgbClr val="387F7F"/>
            </a:solidFill>
          </p:spPr>
        </p:sp>
        <p:sp>
          <p:nvSpPr>
            <p:cNvPr name="TextBox 8" id="8"/>
            <p:cNvSpPr txBox="true"/>
            <p:nvPr/>
          </p:nvSpPr>
          <p:spPr>
            <a:xfrm>
              <a:off x="71692" y="47625"/>
              <a:ext cx="621329" cy="6889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2332385" y="1028700"/>
            <a:ext cx="6811615" cy="7632527"/>
          </a:xfrm>
          <a:custGeom>
            <a:avLst/>
            <a:gdLst/>
            <a:ahLst/>
            <a:cxnLst/>
            <a:rect r="r" b="b" t="t" l="l"/>
            <a:pathLst>
              <a:path h="7632527" w="6811615">
                <a:moveTo>
                  <a:pt x="0" y="0"/>
                </a:moveTo>
                <a:lnTo>
                  <a:pt x="6811615" y="0"/>
                </a:lnTo>
                <a:lnTo>
                  <a:pt x="6811615" y="7632527"/>
                </a:lnTo>
                <a:lnTo>
                  <a:pt x="0" y="7632527"/>
                </a:lnTo>
                <a:lnTo>
                  <a:pt x="0" y="0"/>
                </a:lnTo>
                <a:close/>
              </a:path>
            </a:pathLst>
          </a:custGeom>
          <a:blipFill>
            <a:blip r:embed="rId5"/>
            <a:stretch>
              <a:fillRect l="0" t="0" r="0" b="0"/>
            </a:stretch>
          </a:blipFill>
        </p:spPr>
      </p:sp>
      <p:sp>
        <p:nvSpPr>
          <p:cNvPr name="TextBox 10" id="10"/>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11" id="11"/>
          <p:cNvSpPr txBox="true"/>
          <p:nvPr/>
        </p:nvSpPr>
        <p:spPr>
          <a:xfrm rot="0">
            <a:off x="2332385" y="705296"/>
            <a:ext cx="12583639" cy="441639"/>
          </a:xfrm>
          <a:prstGeom prst="rect">
            <a:avLst/>
          </a:prstGeom>
        </p:spPr>
        <p:txBody>
          <a:bodyPr anchor="t" rtlCol="false" tIns="0" lIns="0" bIns="0" rIns="0">
            <a:spAutoFit/>
          </a:bodyPr>
          <a:lstStyle/>
          <a:p>
            <a:pPr algn="ctr">
              <a:lnSpc>
                <a:spcPts val="3316"/>
              </a:lnSpc>
              <a:spcBef>
                <a:spcPct val="0"/>
              </a:spcBef>
            </a:pPr>
            <a:r>
              <a:rPr lang="en-US" b="true" sz="3099">
                <a:solidFill>
                  <a:srgbClr val="2E686A"/>
                </a:solidFill>
                <a:latin typeface="Gotham Bold"/>
                <a:ea typeface="Gotham Bold"/>
                <a:cs typeface="Gotham Bold"/>
                <a:sym typeface="Gotham Bold"/>
              </a:rPr>
              <a:t>Contextual Compression</a:t>
            </a:r>
          </a:p>
        </p:txBody>
      </p:sp>
      <p:sp>
        <p:nvSpPr>
          <p:cNvPr name="TextBox 12" id="12"/>
          <p:cNvSpPr txBox="true"/>
          <p:nvPr/>
        </p:nvSpPr>
        <p:spPr>
          <a:xfrm rot="0">
            <a:off x="9791331" y="2289770"/>
            <a:ext cx="6995029" cy="6179820"/>
          </a:xfrm>
          <a:prstGeom prst="rect">
            <a:avLst/>
          </a:prstGeom>
        </p:spPr>
        <p:txBody>
          <a:bodyPr anchor="t" rtlCol="false" tIns="0" lIns="0" bIns="0" rIns="0">
            <a:spAutoFit/>
          </a:bodyPr>
          <a:lstStyle/>
          <a:p>
            <a:pPr algn="just">
              <a:lnSpc>
                <a:spcPts val="3779"/>
              </a:lnSpc>
            </a:pPr>
            <a:r>
              <a:rPr lang="en-US" b="true" sz="2699">
                <a:solidFill>
                  <a:srgbClr val="000000"/>
                </a:solidFill>
                <a:latin typeface="Gotham Bold"/>
                <a:ea typeface="Gotham Bold"/>
                <a:cs typeface="Gotham Bold"/>
                <a:sym typeface="Gotham Bold"/>
              </a:rPr>
              <a:t>One of the biggest problems in RAG is retrieving entire documents or large chunks that contain irrelevant information.</a:t>
            </a:r>
          </a:p>
          <a:p>
            <a:pPr algn="just">
              <a:lnSpc>
                <a:spcPts val="3779"/>
              </a:lnSpc>
            </a:pPr>
          </a:p>
          <a:p>
            <a:pPr algn="just">
              <a:lnSpc>
                <a:spcPts val="3779"/>
              </a:lnSpc>
            </a:pPr>
            <a:r>
              <a:rPr lang="en-US" sz="2699" b="true">
                <a:solidFill>
                  <a:srgbClr val="000000"/>
                </a:solidFill>
                <a:latin typeface="Gotham Bold"/>
                <a:ea typeface="Gotham Bold"/>
                <a:cs typeface="Gotham Bold"/>
                <a:sym typeface="Gotham Bold"/>
              </a:rPr>
              <a:t>Contextual Compression Approach:</a:t>
            </a:r>
          </a:p>
          <a:p>
            <a:pPr algn="just" marL="582928" indent="-291464" lvl="1">
              <a:lnSpc>
                <a:spcPts val="3779"/>
              </a:lnSpc>
              <a:buFont typeface="Arial"/>
              <a:buChar char="•"/>
            </a:pPr>
            <a:r>
              <a:rPr lang="en-US" b="true" sz="2699">
                <a:solidFill>
                  <a:srgbClr val="000000"/>
                </a:solidFill>
                <a:latin typeface="Gotham Bold"/>
                <a:ea typeface="Gotham Bold"/>
                <a:cs typeface="Gotham Bold"/>
                <a:sym typeface="Gotham Bold"/>
              </a:rPr>
              <a:t>Extracts only the most relevant parts of retrieved documents.</a:t>
            </a:r>
          </a:p>
          <a:p>
            <a:pPr algn="just" marL="582928" indent="-291464" lvl="1">
              <a:lnSpc>
                <a:spcPts val="3779"/>
              </a:lnSpc>
              <a:buFont typeface="Arial"/>
              <a:buChar char="•"/>
            </a:pPr>
            <a:r>
              <a:rPr lang="en-US" b="true" sz="2699">
                <a:solidFill>
                  <a:srgbClr val="000000"/>
                </a:solidFill>
                <a:latin typeface="Gotham Bold"/>
                <a:ea typeface="Gotham Bold"/>
                <a:cs typeface="Gotham Bold"/>
                <a:sym typeface="Gotham Bold"/>
              </a:rPr>
              <a:t>Compresses information for more focused and efficient retrieval.</a:t>
            </a:r>
          </a:p>
          <a:p>
            <a:pPr algn="just" marL="582928" indent="-291464" lvl="1">
              <a:lnSpc>
                <a:spcPts val="3779"/>
              </a:lnSpc>
              <a:buFont typeface="Arial"/>
              <a:buChar char="•"/>
            </a:pPr>
            <a:r>
              <a:rPr lang="en-US" b="true" sz="2699">
                <a:solidFill>
                  <a:srgbClr val="000000"/>
                </a:solidFill>
                <a:latin typeface="Gotham Bold"/>
                <a:ea typeface="Gotham Bold"/>
                <a:cs typeface="Gotham Bold"/>
                <a:sym typeface="Gotham Bold"/>
              </a:rPr>
              <a:t>Improves relevance while reducing unnecessary data.</a:t>
            </a:r>
          </a:p>
          <a:p>
            <a:pPr algn="just">
              <a:lnSpc>
                <a:spcPts val="377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3945801">
            <a:off x="17639522" y="2561315"/>
            <a:ext cx="4493816" cy="4776403"/>
            <a:chOff x="0" y="0"/>
            <a:chExt cx="764712" cy="812800"/>
          </a:xfrm>
        </p:grpSpPr>
        <p:sp>
          <p:nvSpPr>
            <p:cNvPr name="Freeform 7" id="7"/>
            <p:cNvSpPr/>
            <p:nvPr/>
          </p:nvSpPr>
          <p:spPr>
            <a:xfrm flipH="false" flipV="false" rot="0">
              <a:off x="0" y="0"/>
              <a:ext cx="764712" cy="812800"/>
            </a:xfrm>
            <a:custGeom>
              <a:avLst/>
              <a:gdLst/>
              <a:ahLst/>
              <a:cxnLst/>
              <a:rect r="r" b="b" t="t" l="l"/>
              <a:pathLst>
                <a:path h="812800" w="764712">
                  <a:moveTo>
                    <a:pt x="382356" y="0"/>
                  </a:moveTo>
                  <a:cubicBezTo>
                    <a:pt x="171187" y="0"/>
                    <a:pt x="0" y="181951"/>
                    <a:pt x="0" y="406400"/>
                  </a:cubicBezTo>
                  <a:cubicBezTo>
                    <a:pt x="0" y="630849"/>
                    <a:pt x="171187" y="812800"/>
                    <a:pt x="382356" y="812800"/>
                  </a:cubicBezTo>
                  <a:cubicBezTo>
                    <a:pt x="593526" y="812800"/>
                    <a:pt x="764712" y="630849"/>
                    <a:pt x="764712" y="406400"/>
                  </a:cubicBezTo>
                  <a:cubicBezTo>
                    <a:pt x="764712" y="181951"/>
                    <a:pt x="593526" y="0"/>
                    <a:pt x="382356" y="0"/>
                  </a:cubicBezTo>
                  <a:close/>
                </a:path>
              </a:pathLst>
            </a:custGeom>
            <a:solidFill>
              <a:srgbClr val="387F7F"/>
            </a:solidFill>
          </p:spPr>
        </p:sp>
        <p:sp>
          <p:nvSpPr>
            <p:cNvPr name="TextBox 8" id="8"/>
            <p:cNvSpPr txBox="true"/>
            <p:nvPr/>
          </p:nvSpPr>
          <p:spPr>
            <a:xfrm>
              <a:off x="71692" y="47625"/>
              <a:ext cx="621329" cy="6889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7868" y="1515607"/>
            <a:ext cx="6129155" cy="6867819"/>
          </a:xfrm>
          <a:custGeom>
            <a:avLst/>
            <a:gdLst/>
            <a:ahLst/>
            <a:cxnLst/>
            <a:rect r="r" b="b" t="t" l="l"/>
            <a:pathLst>
              <a:path h="6867819" w="6129155">
                <a:moveTo>
                  <a:pt x="0" y="0"/>
                </a:moveTo>
                <a:lnTo>
                  <a:pt x="6129154" y="0"/>
                </a:lnTo>
                <a:lnTo>
                  <a:pt x="6129154" y="6867819"/>
                </a:lnTo>
                <a:lnTo>
                  <a:pt x="0" y="6867819"/>
                </a:lnTo>
                <a:lnTo>
                  <a:pt x="0" y="0"/>
                </a:lnTo>
                <a:close/>
              </a:path>
            </a:pathLst>
          </a:custGeom>
          <a:blipFill>
            <a:blip r:embed="rId5"/>
            <a:stretch>
              <a:fillRect l="0" t="0" r="0" b="0"/>
            </a:stretch>
          </a:blipFill>
        </p:spPr>
      </p:sp>
      <p:sp>
        <p:nvSpPr>
          <p:cNvPr name="TextBox 10" id="10"/>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11" id="11"/>
          <p:cNvSpPr txBox="true"/>
          <p:nvPr/>
        </p:nvSpPr>
        <p:spPr>
          <a:xfrm rot="0">
            <a:off x="2332385" y="373174"/>
            <a:ext cx="12583639" cy="441639"/>
          </a:xfrm>
          <a:prstGeom prst="rect">
            <a:avLst/>
          </a:prstGeom>
        </p:spPr>
        <p:txBody>
          <a:bodyPr anchor="t" rtlCol="false" tIns="0" lIns="0" bIns="0" rIns="0">
            <a:spAutoFit/>
          </a:bodyPr>
          <a:lstStyle/>
          <a:p>
            <a:pPr algn="ctr">
              <a:lnSpc>
                <a:spcPts val="3316"/>
              </a:lnSpc>
              <a:spcBef>
                <a:spcPct val="0"/>
              </a:spcBef>
            </a:pPr>
            <a:r>
              <a:rPr lang="en-US" b="true" sz="3099">
                <a:solidFill>
                  <a:srgbClr val="2E686A"/>
                </a:solidFill>
                <a:latin typeface="Gotham Bold"/>
                <a:ea typeface="Gotham Bold"/>
                <a:cs typeface="Gotham Bold"/>
                <a:sym typeface="Gotham Bold"/>
              </a:rPr>
              <a:t>Contextual Compression</a:t>
            </a:r>
          </a:p>
        </p:txBody>
      </p:sp>
      <p:sp>
        <p:nvSpPr>
          <p:cNvPr name="TextBox 12" id="12"/>
          <p:cNvSpPr txBox="true"/>
          <p:nvPr/>
        </p:nvSpPr>
        <p:spPr>
          <a:xfrm rot="0">
            <a:off x="7983583" y="1674810"/>
            <a:ext cx="9473404" cy="6215886"/>
          </a:xfrm>
          <a:prstGeom prst="rect">
            <a:avLst/>
          </a:prstGeom>
        </p:spPr>
        <p:txBody>
          <a:bodyPr anchor="t" rtlCol="false" tIns="0" lIns="0" bIns="0" rIns="0">
            <a:spAutoFit/>
          </a:bodyPr>
          <a:lstStyle/>
          <a:p>
            <a:pPr algn="just">
              <a:lnSpc>
                <a:spcPts val="3958"/>
              </a:lnSpc>
            </a:pPr>
            <a:r>
              <a:rPr lang="en-US" sz="2827" b="true">
                <a:solidFill>
                  <a:srgbClr val="000000"/>
                </a:solidFill>
                <a:latin typeface="Gotham Bold"/>
                <a:ea typeface="Gotham Bold"/>
                <a:cs typeface="Gotham Bold"/>
                <a:sym typeface="Gotham Bold"/>
              </a:rPr>
              <a:t>Benefits:</a:t>
            </a:r>
          </a:p>
          <a:p>
            <a:pPr algn="just" marL="588868" indent="-294434" lvl="1">
              <a:lnSpc>
                <a:spcPts val="3818"/>
              </a:lnSpc>
              <a:buFont typeface="Arial"/>
              <a:buChar char="•"/>
            </a:pPr>
            <a:r>
              <a:rPr lang="en-US" b="true" sz="2727">
                <a:solidFill>
                  <a:srgbClr val="000000"/>
                </a:solidFill>
                <a:latin typeface="Gotham Bold"/>
                <a:ea typeface="Gotham Bold"/>
                <a:cs typeface="Gotham Bold"/>
                <a:sym typeface="Gotham Bold"/>
              </a:rPr>
              <a:t>Reduced Noise: Filters out irrelevant information, improving the signal-to-noise ratio.</a:t>
            </a:r>
          </a:p>
          <a:p>
            <a:pPr algn="just" marL="588868" indent="-294434" lvl="1">
              <a:lnSpc>
                <a:spcPts val="3818"/>
              </a:lnSpc>
              <a:buFont typeface="Arial"/>
              <a:buChar char="•"/>
            </a:pPr>
            <a:r>
              <a:rPr lang="en-US" b="true" sz="2727">
                <a:solidFill>
                  <a:srgbClr val="000000"/>
                </a:solidFill>
                <a:latin typeface="Gotham Bold"/>
                <a:ea typeface="Gotham Bold"/>
                <a:cs typeface="Gotham Bold"/>
                <a:sym typeface="Gotham Bold"/>
              </a:rPr>
              <a:t>Improved Efficiency: Reduces the amount of text that needs to be processed, saving computational resources.</a:t>
            </a:r>
          </a:p>
          <a:p>
            <a:pPr algn="just">
              <a:lnSpc>
                <a:spcPts val="3818"/>
              </a:lnSpc>
            </a:pPr>
          </a:p>
          <a:p>
            <a:pPr algn="just">
              <a:lnSpc>
                <a:spcPts val="3959"/>
              </a:lnSpc>
            </a:pPr>
            <a:r>
              <a:rPr lang="en-US" sz="2828" b="true">
                <a:solidFill>
                  <a:srgbClr val="000000"/>
                </a:solidFill>
                <a:latin typeface="Gotham Bold"/>
                <a:ea typeface="Gotham Bold"/>
                <a:cs typeface="Gotham Bold"/>
                <a:sym typeface="Gotham Bold"/>
              </a:rPr>
              <a:t>Use Cases:</a:t>
            </a:r>
          </a:p>
          <a:p>
            <a:pPr algn="just" marL="588868" indent="-294434" lvl="1">
              <a:lnSpc>
                <a:spcPts val="3818"/>
              </a:lnSpc>
              <a:buFont typeface="Arial"/>
              <a:buChar char="•"/>
            </a:pPr>
            <a:r>
              <a:rPr lang="en-US" b="true" sz="2727">
                <a:solidFill>
                  <a:srgbClr val="000000"/>
                </a:solidFill>
                <a:latin typeface="Gotham Bold"/>
                <a:ea typeface="Gotham Bold"/>
                <a:cs typeface="Gotham Bold"/>
                <a:sym typeface="Gotham Bold"/>
              </a:rPr>
              <a:t> Extracting the most relevant information from a large document to answer a specific question.</a:t>
            </a:r>
          </a:p>
          <a:p>
            <a:pPr algn="just">
              <a:lnSpc>
                <a:spcPts val="3818"/>
              </a:lnSpc>
            </a:pPr>
          </a:p>
          <a:p>
            <a:pPr algn="just" marL="588868" indent="-294434" lvl="1">
              <a:lnSpc>
                <a:spcPts val="3818"/>
              </a:lnSpc>
              <a:buFont typeface="Arial"/>
              <a:buChar char="•"/>
            </a:pPr>
            <a:r>
              <a:rPr lang="en-US" b="true" sz="2727">
                <a:solidFill>
                  <a:srgbClr val="000000"/>
                </a:solidFill>
                <a:latin typeface="Gotham Bold"/>
                <a:ea typeface="Gotham Bold"/>
                <a:cs typeface="Gotham Bold"/>
                <a:sym typeface="Gotham Bold"/>
              </a:rPr>
              <a:t>Chatbots with Limited Context Windows</a:t>
            </a:r>
          </a:p>
          <a:p>
            <a:pPr algn="just">
              <a:lnSpc>
                <a:spcPts val="3818"/>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9600647" y="1640733"/>
            <a:ext cx="7658653" cy="6502630"/>
          </a:xfrm>
          <a:custGeom>
            <a:avLst/>
            <a:gdLst/>
            <a:ahLst/>
            <a:cxnLst/>
            <a:rect r="r" b="b" t="t" l="l"/>
            <a:pathLst>
              <a:path h="6502630" w="7658653">
                <a:moveTo>
                  <a:pt x="0" y="0"/>
                </a:moveTo>
                <a:lnTo>
                  <a:pt x="7658653" y="0"/>
                </a:lnTo>
                <a:lnTo>
                  <a:pt x="7658653" y="6502630"/>
                </a:lnTo>
                <a:lnTo>
                  <a:pt x="0" y="6502630"/>
                </a:lnTo>
                <a:lnTo>
                  <a:pt x="0" y="0"/>
                </a:lnTo>
                <a:close/>
              </a:path>
            </a:pathLst>
          </a:custGeom>
          <a:blipFill>
            <a:blip r:embed="rId5"/>
            <a:stretch>
              <a:fillRect l="0" t="0" r="0" b="0"/>
            </a:stretch>
          </a:blipFill>
        </p:spPr>
      </p:sp>
      <p:sp>
        <p:nvSpPr>
          <p:cNvPr name="TextBox 7" id="7"/>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8" id="8"/>
          <p:cNvSpPr txBox="true"/>
          <p:nvPr/>
        </p:nvSpPr>
        <p:spPr>
          <a:xfrm rot="0">
            <a:off x="1903213" y="725964"/>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2E686A"/>
                </a:solidFill>
                <a:latin typeface="Gotham Bold"/>
                <a:ea typeface="Gotham Bold"/>
                <a:cs typeface="Gotham Bold"/>
                <a:sym typeface="Gotham Bold"/>
              </a:rPr>
              <a:t>HyDE (Hypothetical Document Embeddings)</a:t>
            </a:r>
          </a:p>
        </p:txBody>
      </p:sp>
      <p:sp>
        <p:nvSpPr>
          <p:cNvPr name="TextBox 9" id="9"/>
          <p:cNvSpPr txBox="true"/>
          <p:nvPr/>
        </p:nvSpPr>
        <p:spPr>
          <a:xfrm rot="0">
            <a:off x="1028700" y="2070197"/>
            <a:ext cx="7042363" cy="7036878"/>
          </a:xfrm>
          <a:prstGeom prst="rect">
            <a:avLst/>
          </a:prstGeom>
        </p:spPr>
        <p:txBody>
          <a:bodyPr anchor="t" rtlCol="false" tIns="0" lIns="0" bIns="0" rIns="0">
            <a:spAutoFit/>
          </a:bodyPr>
          <a:lstStyle/>
          <a:p>
            <a:pPr algn="just" marL="661877" indent="-330938" lvl="1">
              <a:lnSpc>
                <a:spcPts val="4291"/>
              </a:lnSpc>
              <a:buFont typeface="Arial"/>
              <a:buChar char="•"/>
            </a:pPr>
            <a:r>
              <a:rPr lang="en-US" b="true" sz="3065">
                <a:solidFill>
                  <a:srgbClr val="000000"/>
                </a:solidFill>
                <a:latin typeface="Gotham Bold"/>
                <a:ea typeface="Gotham Bold"/>
                <a:cs typeface="Gotham Bold"/>
                <a:sym typeface="Gotham Bold"/>
              </a:rPr>
              <a:t>Some retrieval methods may not always find the most relevant documents due to limitations in keyword matching.</a:t>
            </a:r>
          </a:p>
          <a:p>
            <a:pPr algn="just">
              <a:lnSpc>
                <a:spcPts val="4291"/>
              </a:lnSpc>
            </a:pPr>
          </a:p>
          <a:p>
            <a:pPr algn="just" marL="661877" indent="-330938" lvl="1">
              <a:lnSpc>
                <a:spcPts val="4291"/>
              </a:lnSpc>
              <a:buFont typeface="Arial"/>
              <a:buChar char="•"/>
            </a:pPr>
            <a:r>
              <a:rPr lang="en-US" b="true" sz="3065">
                <a:solidFill>
                  <a:srgbClr val="000000"/>
                </a:solidFill>
                <a:latin typeface="Gotham Bold"/>
                <a:ea typeface="Gotham Bold"/>
                <a:cs typeface="Gotham Bold"/>
                <a:sym typeface="Gotham Bold"/>
              </a:rPr>
              <a:t>Queries might not directly align with indexed documents, leading to suboptimal retrieval results.</a:t>
            </a:r>
          </a:p>
          <a:p>
            <a:pPr algn="just">
              <a:lnSpc>
                <a:spcPts val="4291"/>
              </a:lnSpc>
            </a:pPr>
          </a:p>
          <a:p>
            <a:pPr algn="just">
              <a:lnSpc>
                <a:spcPts val="4291"/>
              </a:lnSpc>
            </a:pPr>
          </a:p>
          <a:p>
            <a:pPr algn="just">
              <a:lnSpc>
                <a:spcPts val="4291"/>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7" id="7"/>
          <p:cNvSpPr txBox="true"/>
          <p:nvPr/>
        </p:nvSpPr>
        <p:spPr>
          <a:xfrm rot="0">
            <a:off x="-1325932" y="832502"/>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2E686A"/>
                </a:solidFill>
                <a:latin typeface="Gotham Bold"/>
                <a:ea typeface="Gotham Bold"/>
                <a:cs typeface="Gotham Bold"/>
                <a:sym typeface="Gotham Bold"/>
              </a:rPr>
              <a:t>Solution: HyDE </a:t>
            </a:r>
            <a:r>
              <a:rPr lang="en-US" b="true" sz="2999">
                <a:solidFill>
                  <a:srgbClr val="2E686A"/>
                </a:solidFill>
                <a:latin typeface="Gotham Bold"/>
                <a:ea typeface="Gotham Bold"/>
                <a:cs typeface="Gotham Bold"/>
                <a:sym typeface="Gotham Bold"/>
              </a:rPr>
              <a:t>Approach:</a:t>
            </a:r>
          </a:p>
        </p:txBody>
      </p:sp>
      <p:sp>
        <p:nvSpPr>
          <p:cNvPr name="TextBox 8" id="8"/>
          <p:cNvSpPr txBox="true"/>
          <p:nvPr/>
        </p:nvSpPr>
        <p:spPr>
          <a:xfrm rot="0">
            <a:off x="1386340" y="1992412"/>
            <a:ext cx="7159094" cy="4483352"/>
          </a:xfrm>
          <a:prstGeom prst="rect">
            <a:avLst/>
          </a:prstGeom>
        </p:spPr>
        <p:txBody>
          <a:bodyPr anchor="t" rtlCol="false" tIns="0" lIns="0" bIns="0" rIns="0">
            <a:spAutoFit/>
          </a:bodyPr>
          <a:lstStyle/>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Uses LLMs</a:t>
            </a:r>
            <a:r>
              <a:rPr lang="en-US" b="true" sz="2865">
                <a:solidFill>
                  <a:srgbClr val="000000"/>
                </a:solidFill>
                <a:latin typeface="Gotham Bold"/>
                <a:ea typeface="Gotham Bold"/>
                <a:cs typeface="Gotham Bold"/>
                <a:sym typeface="Gotham Bold"/>
              </a:rPr>
              <a:t> to generate hypothetical documents based on the query.</a:t>
            </a: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Converts these hypothetical documents into embeddings.</a:t>
            </a: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Retrieves indexed documents that best align with these generat</a:t>
            </a:r>
            <a:r>
              <a:rPr lang="en-US" b="true" sz="2865">
                <a:solidFill>
                  <a:srgbClr val="000000"/>
                </a:solidFill>
                <a:latin typeface="Gotham Bold"/>
                <a:ea typeface="Gotham Bold"/>
                <a:cs typeface="Gotham Bold"/>
                <a:sym typeface="Gotham Bold"/>
              </a:rPr>
              <a:t>ed embeddings.</a:t>
            </a:r>
          </a:p>
          <a:p>
            <a:pPr algn="just">
              <a:lnSpc>
                <a:spcPts val="3438"/>
              </a:lnSpc>
            </a:pPr>
          </a:p>
        </p:txBody>
      </p:sp>
      <p:sp>
        <p:nvSpPr>
          <p:cNvPr name="TextBox 9" id="9"/>
          <p:cNvSpPr txBox="true"/>
          <p:nvPr/>
        </p:nvSpPr>
        <p:spPr>
          <a:xfrm rot="0">
            <a:off x="9941845" y="1992412"/>
            <a:ext cx="6641364" cy="4466311"/>
          </a:xfrm>
          <a:prstGeom prst="rect">
            <a:avLst/>
          </a:prstGeom>
        </p:spPr>
        <p:txBody>
          <a:bodyPr anchor="t" rtlCol="false" tIns="0" lIns="0" bIns="0" rIns="0">
            <a:spAutoFit/>
          </a:bodyPr>
          <a:lstStyle/>
          <a:p>
            <a:pPr algn="just">
              <a:lnSpc>
                <a:spcPts val="4011"/>
              </a:lnSpc>
            </a:pPr>
            <a:r>
              <a:rPr lang="en-US" b="true" sz="2865">
                <a:solidFill>
                  <a:srgbClr val="000000"/>
                </a:solidFill>
                <a:latin typeface="Gotham Bold"/>
                <a:ea typeface="Gotham Bold"/>
                <a:cs typeface="Gotham Bold"/>
                <a:sym typeface="Gotham Bold"/>
              </a:rPr>
              <a:t>This method enhances r</a:t>
            </a:r>
            <a:r>
              <a:rPr lang="en-US" b="true" sz="2865">
                <a:solidFill>
                  <a:srgbClr val="000000"/>
                </a:solidFill>
                <a:latin typeface="Gotham Bold"/>
                <a:ea typeface="Gotham Bold"/>
                <a:cs typeface="Gotham Bold"/>
                <a:sym typeface="Gotham Bold"/>
              </a:rPr>
              <a:t>etrieval quality by bridging the gap between user intent and stored information by generating an LLM-created “ideal answer” that</a:t>
            </a:r>
            <a:r>
              <a:rPr lang="en-US" b="true" sz="2865">
                <a:solidFill>
                  <a:srgbClr val="000000"/>
                </a:solidFill>
                <a:latin typeface="Gotham Bold"/>
                <a:ea typeface="Gotham Bold"/>
                <a:cs typeface="Gotham Bold"/>
                <a:sym typeface="Gotham Bold"/>
              </a:rPr>
              <a:t> better repres</a:t>
            </a:r>
            <a:r>
              <a:rPr lang="en-US" b="true" sz="2865">
                <a:solidFill>
                  <a:srgbClr val="000000"/>
                </a:solidFill>
                <a:latin typeface="Gotham Bold"/>
                <a:ea typeface="Gotham Bold"/>
                <a:cs typeface="Gotham Bold"/>
                <a:sym typeface="Gotham Bold"/>
              </a:rPr>
              <a:t>ents what the user is looking for, then using it to find the closest real documents.</a:t>
            </a:r>
          </a:p>
          <a:p>
            <a:pPr algn="just">
              <a:lnSpc>
                <a:spcPts val="3438"/>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9366396" y="1253473"/>
            <a:ext cx="7662919" cy="7077557"/>
          </a:xfrm>
          <a:custGeom>
            <a:avLst/>
            <a:gdLst/>
            <a:ahLst/>
            <a:cxnLst/>
            <a:rect r="r" b="b" t="t" l="l"/>
            <a:pathLst>
              <a:path h="7077557" w="7662919">
                <a:moveTo>
                  <a:pt x="0" y="0"/>
                </a:moveTo>
                <a:lnTo>
                  <a:pt x="7662918" y="0"/>
                </a:lnTo>
                <a:lnTo>
                  <a:pt x="7662918" y="7077557"/>
                </a:lnTo>
                <a:lnTo>
                  <a:pt x="0" y="7077557"/>
                </a:lnTo>
                <a:lnTo>
                  <a:pt x="0" y="0"/>
                </a:lnTo>
                <a:close/>
              </a:path>
            </a:pathLst>
          </a:custGeom>
          <a:blipFill>
            <a:blip r:embed="rId5"/>
            <a:stretch>
              <a:fillRect l="0" t="0" r="0" b="0"/>
            </a:stretch>
          </a:blipFill>
        </p:spPr>
      </p:sp>
      <p:sp>
        <p:nvSpPr>
          <p:cNvPr name="TextBox 7" id="7"/>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8" id="8"/>
          <p:cNvSpPr txBox="true"/>
          <p:nvPr/>
        </p:nvSpPr>
        <p:spPr>
          <a:xfrm rot="0">
            <a:off x="-1325932" y="832502"/>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2E686A"/>
                </a:solidFill>
                <a:latin typeface="Gotham Bold"/>
                <a:ea typeface="Gotham Bold"/>
                <a:cs typeface="Gotham Bold"/>
                <a:sym typeface="Gotham Bold"/>
              </a:rPr>
              <a:t>Solution: HyDE </a:t>
            </a:r>
            <a:r>
              <a:rPr lang="en-US" b="true" sz="2999">
                <a:solidFill>
                  <a:srgbClr val="2E686A"/>
                </a:solidFill>
                <a:latin typeface="Gotham Bold"/>
                <a:ea typeface="Gotham Bold"/>
                <a:cs typeface="Gotham Bold"/>
                <a:sym typeface="Gotham Bold"/>
              </a:rPr>
              <a:t>Approach:</a:t>
            </a:r>
          </a:p>
        </p:txBody>
      </p:sp>
      <p:sp>
        <p:nvSpPr>
          <p:cNvPr name="TextBox 9" id="9"/>
          <p:cNvSpPr txBox="true"/>
          <p:nvPr/>
        </p:nvSpPr>
        <p:spPr>
          <a:xfrm rot="0">
            <a:off x="1590621" y="1992412"/>
            <a:ext cx="7159094" cy="6003664"/>
          </a:xfrm>
          <a:prstGeom prst="rect">
            <a:avLst/>
          </a:prstGeom>
        </p:spPr>
        <p:txBody>
          <a:bodyPr anchor="t" rtlCol="false" tIns="0" lIns="0" bIns="0" rIns="0">
            <a:spAutoFit/>
          </a:bodyPr>
          <a:lstStyle/>
          <a:p>
            <a:pPr algn="just" marL="618697" indent="-309348" lvl="1">
              <a:lnSpc>
                <a:spcPts val="4011"/>
              </a:lnSpc>
              <a:buFont typeface="Arial"/>
              <a:buChar char="•"/>
            </a:pPr>
            <a:r>
              <a:rPr lang="en-US" b="true" sz="2865">
                <a:solidFill>
                  <a:srgbClr val="000000"/>
                </a:solidFill>
                <a:latin typeface="Gotham Bold"/>
                <a:ea typeface="Gotham Bold"/>
                <a:cs typeface="Gotham Bold"/>
                <a:sym typeface="Gotham Bold"/>
              </a:rPr>
              <a:t>Use Cases:</a:t>
            </a:r>
          </a:p>
          <a:p>
            <a:pPr algn="just">
              <a:lnSpc>
                <a:spcPts val="4011"/>
              </a:lnSpc>
            </a:pP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Pa</a:t>
            </a:r>
            <a:r>
              <a:rPr lang="en-US" b="true" sz="2865">
                <a:solidFill>
                  <a:srgbClr val="000000"/>
                </a:solidFill>
                <a:latin typeface="Gotham Bold"/>
                <a:ea typeface="Gotham Bold"/>
                <a:cs typeface="Gotham Bold"/>
                <a:sym typeface="Gotham Bold"/>
              </a:rPr>
              <a:t>tent Search: Finding patents that are related to a specific invention, even if they use different</a:t>
            </a:r>
            <a:r>
              <a:rPr lang="en-US" b="true" sz="2865">
                <a:solidFill>
                  <a:srgbClr val="000000"/>
                </a:solidFill>
                <a:latin typeface="Gotham Bold"/>
                <a:ea typeface="Gotham Bold"/>
                <a:cs typeface="Gotham Bold"/>
                <a:sym typeface="Gotham Bold"/>
              </a:rPr>
              <a:t> terminology.</a:t>
            </a:r>
          </a:p>
          <a:p>
            <a:pPr algn="just">
              <a:lnSpc>
                <a:spcPts val="4011"/>
              </a:lnSpc>
            </a:pP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Sc</a:t>
            </a:r>
            <a:r>
              <a:rPr lang="en-US" b="true" sz="2865">
                <a:solidFill>
                  <a:srgbClr val="000000"/>
                </a:solidFill>
                <a:latin typeface="Gotham Bold"/>
                <a:ea typeface="Gotham Bold"/>
                <a:cs typeface="Gotham Bold"/>
                <a:sym typeface="Gotham Bold"/>
              </a:rPr>
              <a:t>i</a:t>
            </a:r>
            <a:r>
              <a:rPr lang="en-US" b="true" sz="2865">
                <a:solidFill>
                  <a:srgbClr val="000000"/>
                </a:solidFill>
                <a:latin typeface="Gotham Bold"/>
                <a:ea typeface="Gotham Bold"/>
                <a:cs typeface="Gotham Bold"/>
                <a:sym typeface="Gotham Bold"/>
              </a:rPr>
              <a:t>entific Literatur</a:t>
            </a:r>
            <a:r>
              <a:rPr lang="en-US" b="true" sz="2865">
                <a:solidFill>
                  <a:srgbClr val="000000"/>
                </a:solidFill>
                <a:latin typeface="Gotham Bold"/>
                <a:ea typeface="Gotham Bold"/>
                <a:cs typeface="Gotham Bold"/>
                <a:sym typeface="Gotham Bold"/>
              </a:rPr>
              <a:t>e Search: Discovering research papers that address a specific research question.</a:t>
            </a:r>
          </a:p>
          <a:p>
            <a:pPr algn="just">
              <a:lnSpc>
                <a:spcPts val="3438"/>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10293434" y="1973841"/>
            <a:ext cx="7884867" cy="6093691"/>
          </a:xfrm>
          <a:custGeom>
            <a:avLst/>
            <a:gdLst/>
            <a:ahLst/>
            <a:cxnLst/>
            <a:rect r="r" b="b" t="t" l="l"/>
            <a:pathLst>
              <a:path h="6093691" w="7884867">
                <a:moveTo>
                  <a:pt x="0" y="0"/>
                </a:moveTo>
                <a:lnTo>
                  <a:pt x="7884867" y="0"/>
                </a:lnTo>
                <a:lnTo>
                  <a:pt x="7884867" y="6093691"/>
                </a:lnTo>
                <a:lnTo>
                  <a:pt x="0" y="6093691"/>
                </a:lnTo>
                <a:lnTo>
                  <a:pt x="0" y="0"/>
                </a:lnTo>
                <a:close/>
              </a:path>
            </a:pathLst>
          </a:custGeom>
          <a:blipFill>
            <a:blip r:embed="rId5"/>
            <a:stretch>
              <a:fillRect l="0" t="0" r="0" b="0"/>
            </a:stretch>
          </a:blipFill>
        </p:spPr>
      </p:sp>
      <p:sp>
        <p:nvSpPr>
          <p:cNvPr name="TextBox 7" id="7"/>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8" id="8"/>
          <p:cNvSpPr txBox="true"/>
          <p:nvPr/>
        </p:nvSpPr>
        <p:spPr>
          <a:xfrm rot="0">
            <a:off x="1475013" y="832502"/>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2E686A"/>
                </a:solidFill>
                <a:latin typeface="Gotham Bold"/>
                <a:ea typeface="Gotham Bold"/>
                <a:cs typeface="Gotham Bold"/>
                <a:sym typeface="Gotham Bold"/>
              </a:rPr>
              <a:t>BM25 (Best M</a:t>
            </a:r>
            <a:r>
              <a:rPr lang="en-US" b="true" sz="2999">
                <a:solidFill>
                  <a:srgbClr val="2E686A"/>
                </a:solidFill>
                <a:latin typeface="Gotham Bold"/>
                <a:ea typeface="Gotham Bold"/>
                <a:cs typeface="Gotham Bold"/>
                <a:sym typeface="Gotham Bold"/>
              </a:rPr>
              <a:t>atching 25)</a:t>
            </a:r>
          </a:p>
        </p:txBody>
      </p:sp>
      <p:sp>
        <p:nvSpPr>
          <p:cNvPr name="TextBox 9" id="9"/>
          <p:cNvSpPr txBox="true"/>
          <p:nvPr/>
        </p:nvSpPr>
        <p:spPr>
          <a:xfrm rot="0">
            <a:off x="1605212" y="1601722"/>
            <a:ext cx="7921171" cy="7656578"/>
          </a:xfrm>
          <a:prstGeom prst="rect">
            <a:avLst/>
          </a:prstGeom>
        </p:spPr>
        <p:txBody>
          <a:bodyPr anchor="t" rtlCol="false" tIns="0" lIns="0" bIns="0" rIns="0">
            <a:spAutoFit/>
          </a:bodyPr>
          <a:lstStyle/>
          <a:p>
            <a:pPr algn="just" marL="631250" indent="-315625" lvl="1">
              <a:lnSpc>
                <a:spcPts val="4093"/>
              </a:lnSpc>
              <a:buFont typeface="Arial"/>
              <a:buChar char="•"/>
            </a:pPr>
            <a:r>
              <a:rPr lang="en-US" b="true" sz="2923">
                <a:solidFill>
                  <a:srgbClr val="000000"/>
                </a:solidFill>
                <a:latin typeface="Gotham Bold"/>
                <a:ea typeface="Gotham Bold"/>
                <a:cs typeface="Gotham Bold"/>
                <a:sym typeface="Gotham Bold"/>
              </a:rPr>
              <a:t>Problem in</a:t>
            </a:r>
            <a:r>
              <a:rPr lang="en-US" b="true" sz="2923">
                <a:solidFill>
                  <a:srgbClr val="000000"/>
                </a:solidFill>
                <a:latin typeface="Gotham Bold"/>
                <a:ea typeface="Gotham Bold"/>
                <a:cs typeface="Gotham Bold"/>
                <a:sym typeface="Gotham Bold"/>
              </a:rPr>
              <a:t> RAG:</a:t>
            </a:r>
          </a:p>
          <a:p>
            <a:pPr algn="just" marL="1262500" indent="-420833" lvl="2">
              <a:lnSpc>
                <a:spcPts val="4093"/>
              </a:lnSpc>
              <a:buFont typeface="Arial"/>
              <a:buChar char="⚬"/>
            </a:pPr>
            <a:r>
              <a:rPr lang="en-US" b="true" sz="2923">
                <a:solidFill>
                  <a:srgbClr val="000000"/>
                </a:solidFill>
                <a:latin typeface="Gotham Bold"/>
                <a:ea typeface="Gotham Bold"/>
                <a:cs typeface="Gotham Bold"/>
                <a:sym typeface="Gotham Bold"/>
              </a:rPr>
              <a:t> Many retrieval systems struggle with vague or under-specified queries — especially when embeddings don’t capture the right keywords.</a:t>
            </a:r>
          </a:p>
          <a:p>
            <a:pPr algn="just">
              <a:lnSpc>
                <a:spcPts val="4093"/>
              </a:lnSpc>
            </a:pPr>
          </a:p>
          <a:p>
            <a:pPr algn="just" marL="631250" indent="-315625" lvl="1">
              <a:lnSpc>
                <a:spcPts val="4093"/>
              </a:lnSpc>
              <a:buFont typeface="Arial"/>
              <a:buChar char="•"/>
            </a:pPr>
            <a:r>
              <a:rPr lang="en-US" b="true" sz="2923">
                <a:solidFill>
                  <a:srgbClr val="000000"/>
                </a:solidFill>
                <a:latin typeface="Gotham Bold"/>
                <a:ea typeface="Gotham Bold"/>
                <a:cs typeface="Gotham Bold"/>
                <a:sym typeface="Gotham Bold"/>
              </a:rPr>
              <a:t>BM25 Solution:</a:t>
            </a:r>
          </a:p>
          <a:p>
            <a:pPr algn="just" marL="1262500" indent="-420833" lvl="2">
              <a:lnSpc>
                <a:spcPts val="4093"/>
              </a:lnSpc>
              <a:buFont typeface="Arial"/>
              <a:buChar char="⚬"/>
            </a:pPr>
            <a:r>
              <a:rPr lang="en-US" b="true" sz="2923">
                <a:solidFill>
                  <a:srgbClr val="000000"/>
                </a:solidFill>
                <a:latin typeface="Gotham Bold"/>
                <a:ea typeface="Gotham Bold"/>
                <a:cs typeface="Gotham Bold"/>
                <a:sym typeface="Gotham Bold"/>
              </a:rPr>
              <a:t>Uses exact k</a:t>
            </a:r>
            <a:r>
              <a:rPr lang="en-US" b="true" sz="2923">
                <a:solidFill>
                  <a:srgbClr val="000000"/>
                </a:solidFill>
                <a:latin typeface="Gotham Bold"/>
                <a:ea typeface="Gotham Bold"/>
                <a:cs typeface="Gotham Bold"/>
                <a:sym typeface="Gotham Bold"/>
              </a:rPr>
              <a:t>eyword matching and ranks ba</a:t>
            </a:r>
            <a:r>
              <a:rPr lang="en-US" b="true" sz="2923">
                <a:solidFill>
                  <a:srgbClr val="000000"/>
                </a:solidFill>
                <a:latin typeface="Gotham Bold"/>
                <a:ea typeface="Gotham Bold"/>
                <a:cs typeface="Gotham Bold"/>
                <a:sym typeface="Gotham Bold"/>
              </a:rPr>
              <a:t>s</a:t>
            </a:r>
            <a:r>
              <a:rPr lang="en-US" b="true" sz="2923">
                <a:solidFill>
                  <a:srgbClr val="000000"/>
                </a:solidFill>
                <a:latin typeface="Gotham Bold"/>
                <a:ea typeface="Gotham Bold"/>
                <a:cs typeface="Gotham Bold"/>
                <a:sym typeface="Gotham Bold"/>
              </a:rPr>
              <a:t>ed on term frequency and importanc</a:t>
            </a:r>
            <a:r>
              <a:rPr lang="en-US" b="true" sz="2923">
                <a:solidFill>
                  <a:srgbClr val="000000"/>
                </a:solidFill>
                <a:latin typeface="Gotham Bold"/>
                <a:ea typeface="Gotham Bold"/>
                <a:cs typeface="Gotham Bold"/>
                <a:sym typeface="Gotham Bold"/>
              </a:rPr>
              <a:t>e (TF-IDF)</a:t>
            </a:r>
          </a:p>
          <a:p>
            <a:pPr algn="just" marL="1262500" indent="-420833" lvl="2">
              <a:lnSpc>
                <a:spcPts val="4093"/>
              </a:lnSpc>
              <a:buFont typeface="Arial"/>
              <a:buChar char="⚬"/>
            </a:pPr>
            <a:r>
              <a:rPr lang="en-US" b="true" sz="2923">
                <a:solidFill>
                  <a:srgbClr val="000000"/>
                </a:solidFill>
                <a:latin typeface="Gotham Bold"/>
                <a:ea typeface="Gotham Bold"/>
                <a:cs typeface="Gotham Bold"/>
                <a:sym typeface="Gotham Bold"/>
              </a:rPr>
              <a:t>Efficiently retrieves documents containing precise terms from the query</a:t>
            </a:r>
          </a:p>
          <a:p>
            <a:pPr algn="just">
              <a:lnSpc>
                <a:spcPts val="3508"/>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9682401" y="1929416"/>
            <a:ext cx="8782914" cy="4960562"/>
          </a:xfrm>
          <a:custGeom>
            <a:avLst/>
            <a:gdLst/>
            <a:ahLst/>
            <a:cxnLst/>
            <a:rect r="r" b="b" t="t" l="l"/>
            <a:pathLst>
              <a:path h="4960562" w="8782914">
                <a:moveTo>
                  <a:pt x="0" y="0"/>
                </a:moveTo>
                <a:lnTo>
                  <a:pt x="8782913" y="0"/>
                </a:lnTo>
                <a:lnTo>
                  <a:pt x="8782913" y="4960562"/>
                </a:lnTo>
                <a:lnTo>
                  <a:pt x="0" y="4960562"/>
                </a:lnTo>
                <a:lnTo>
                  <a:pt x="0" y="0"/>
                </a:lnTo>
                <a:close/>
              </a:path>
            </a:pathLst>
          </a:custGeom>
          <a:blipFill>
            <a:blip r:embed="rId5"/>
            <a:stretch>
              <a:fillRect l="0" t="0" r="0" b="0"/>
            </a:stretch>
          </a:blipFill>
        </p:spPr>
      </p:sp>
      <p:sp>
        <p:nvSpPr>
          <p:cNvPr name="TextBox 7" id="7"/>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8" id="8"/>
          <p:cNvSpPr txBox="true"/>
          <p:nvPr/>
        </p:nvSpPr>
        <p:spPr>
          <a:xfrm rot="0">
            <a:off x="658510" y="1175510"/>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2E686A"/>
                </a:solidFill>
                <a:latin typeface="Gotham Bold"/>
                <a:ea typeface="Gotham Bold"/>
                <a:cs typeface="Gotham Bold"/>
                <a:sym typeface="Gotham Bold"/>
              </a:rPr>
              <a:t>BM25 - How it Works:</a:t>
            </a:r>
          </a:p>
        </p:txBody>
      </p:sp>
      <p:sp>
        <p:nvSpPr>
          <p:cNvPr name="TextBox 9" id="9"/>
          <p:cNvSpPr txBox="true"/>
          <p:nvPr/>
        </p:nvSpPr>
        <p:spPr>
          <a:xfrm rot="0">
            <a:off x="1792148" y="1549982"/>
            <a:ext cx="8052494" cy="7139411"/>
          </a:xfrm>
          <a:prstGeom prst="rect">
            <a:avLst/>
          </a:prstGeom>
        </p:spPr>
        <p:txBody>
          <a:bodyPr anchor="t" rtlCol="false" tIns="0" lIns="0" bIns="0" rIns="0">
            <a:spAutoFit/>
          </a:bodyPr>
          <a:lstStyle/>
          <a:p>
            <a:pPr algn="just">
              <a:lnSpc>
                <a:spcPts val="4093"/>
              </a:lnSpc>
            </a:pPr>
          </a:p>
          <a:p>
            <a:pPr algn="just" marL="631250" indent="-315625" lvl="1">
              <a:lnSpc>
                <a:spcPts val="4093"/>
              </a:lnSpc>
              <a:buFont typeface="Arial"/>
              <a:buChar char="•"/>
            </a:pPr>
            <a:r>
              <a:rPr lang="en-US" b="true" sz="2923">
                <a:solidFill>
                  <a:srgbClr val="000000"/>
                </a:solidFill>
                <a:latin typeface="Gotham Bold"/>
                <a:ea typeface="Gotham Bold"/>
                <a:cs typeface="Gotham Bold"/>
                <a:sym typeface="Gotham Bold"/>
              </a:rPr>
              <a:t>Term Frequency</a:t>
            </a:r>
            <a:r>
              <a:rPr lang="en-US" b="true" sz="2923">
                <a:solidFill>
                  <a:srgbClr val="000000"/>
                </a:solidFill>
                <a:latin typeface="Gotham Bold"/>
                <a:ea typeface="Gotham Bold"/>
                <a:cs typeface="Gotham Bold"/>
                <a:sym typeface="Gotham Bold"/>
              </a:rPr>
              <a:t> (TF): Measures how often a term appears in a document.</a:t>
            </a:r>
          </a:p>
          <a:p>
            <a:pPr algn="just">
              <a:lnSpc>
                <a:spcPts val="4093"/>
              </a:lnSpc>
            </a:pPr>
          </a:p>
          <a:p>
            <a:pPr algn="just" marL="631250" indent="-315625" lvl="1">
              <a:lnSpc>
                <a:spcPts val="4093"/>
              </a:lnSpc>
              <a:buFont typeface="Arial"/>
              <a:buChar char="•"/>
            </a:pPr>
            <a:r>
              <a:rPr lang="en-US" b="true" sz="2923">
                <a:solidFill>
                  <a:srgbClr val="000000"/>
                </a:solidFill>
                <a:latin typeface="Gotham Bold"/>
                <a:ea typeface="Gotham Bold"/>
                <a:cs typeface="Gotham Bold"/>
                <a:sym typeface="Gotham Bold"/>
              </a:rPr>
              <a:t>Inverse Document Frequency (IDF): Measures how rare a term is across the entire document collection.</a:t>
            </a:r>
          </a:p>
          <a:p>
            <a:pPr algn="just">
              <a:lnSpc>
                <a:spcPts val="4093"/>
              </a:lnSpc>
            </a:pPr>
          </a:p>
          <a:p>
            <a:pPr algn="just" marL="631250" indent="-315625" lvl="1">
              <a:lnSpc>
                <a:spcPts val="4093"/>
              </a:lnSpc>
              <a:buFont typeface="Arial"/>
              <a:buChar char="•"/>
            </a:pPr>
            <a:r>
              <a:rPr lang="en-US" b="true" sz="2923">
                <a:solidFill>
                  <a:srgbClr val="000000"/>
                </a:solidFill>
                <a:latin typeface="Gotham Bold"/>
                <a:ea typeface="Gotham Bold"/>
                <a:cs typeface="Gotham Bold"/>
                <a:sym typeface="Gotham Bold"/>
              </a:rPr>
              <a:t>Docum</a:t>
            </a:r>
            <a:r>
              <a:rPr lang="en-US" b="true" sz="2923">
                <a:solidFill>
                  <a:srgbClr val="000000"/>
                </a:solidFill>
                <a:latin typeface="Gotham Bold"/>
                <a:ea typeface="Gotham Bold"/>
                <a:cs typeface="Gotham Bold"/>
                <a:sym typeface="Gotham Bold"/>
              </a:rPr>
              <a:t>ent Length N</a:t>
            </a:r>
            <a:r>
              <a:rPr lang="en-US" b="true" sz="2923">
                <a:solidFill>
                  <a:srgbClr val="000000"/>
                </a:solidFill>
                <a:latin typeface="Gotham Bold"/>
                <a:ea typeface="Gotham Bold"/>
                <a:cs typeface="Gotham Bold"/>
                <a:sym typeface="Gotham Bold"/>
              </a:rPr>
              <a:t>ormalization: Adjusts the score ba</a:t>
            </a:r>
            <a:r>
              <a:rPr lang="en-US" b="true" sz="2923">
                <a:solidFill>
                  <a:srgbClr val="000000"/>
                </a:solidFill>
                <a:latin typeface="Gotham Bold"/>
                <a:ea typeface="Gotham Bold"/>
                <a:cs typeface="Gotham Bold"/>
                <a:sym typeface="Gotham Bold"/>
              </a:rPr>
              <a:t>s</a:t>
            </a:r>
            <a:r>
              <a:rPr lang="en-US" b="true" sz="2923">
                <a:solidFill>
                  <a:srgbClr val="000000"/>
                </a:solidFill>
                <a:latin typeface="Gotham Bold"/>
                <a:ea typeface="Gotham Bold"/>
                <a:cs typeface="Gotham Bold"/>
                <a:sym typeface="Gotham Bold"/>
              </a:rPr>
              <a:t>ed on the length o</a:t>
            </a:r>
            <a:r>
              <a:rPr lang="en-US" b="true" sz="2923">
                <a:solidFill>
                  <a:srgbClr val="000000"/>
                </a:solidFill>
                <a:latin typeface="Gotham Bold"/>
                <a:ea typeface="Gotham Bold"/>
                <a:cs typeface="Gotham Bold"/>
                <a:sym typeface="Gotham Bold"/>
              </a:rPr>
              <a:t>f the document to prevent longer documents from being unfairly favored.</a:t>
            </a:r>
          </a:p>
          <a:p>
            <a:pPr algn="just">
              <a:lnSpc>
                <a:spcPts val="3508"/>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9979980" y="1819073"/>
            <a:ext cx="7884867" cy="6093691"/>
          </a:xfrm>
          <a:custGeom>
            <a:avLst/>
            <a:gdLst/>
            <a:ahLst/>
            <a:cxnLst/>
            <a:rect r="r" b="b" t="t" l="l"/>
            <a:pathLst>
              <a:path h="6093691" w="7884867">
                <a:moveTo>
                  <a:pt x="0" y="0"/>
                </a:moveTo>
                <a:lnTo>
                  <a:pt x="7884867" y="0"/>
                </a:lnTo>
                <a:lnTo>
                  <a:pt x="7884867" y="6093691"/>
                </a:lnTo>
                <a:lnTo>
                  <a:pt x="0" y="6093691"/>
                </a:lnTo>
                <a:lnTo>
                  <a:pt x="0" y="0"/>
                </a:lnTo>
                <a:close/>
              </a:path>
            </a:pathLst>
          </a:custGeom>
          <a:blipFill>
            <a:blip r:embed="rId5"/>
            <a:stretch>
              <a:fillRect l="0" t="0" r="0" b="0"/>
            </a:stretch>
          </a:blipFill>
        </p:spPr>
      </p:sp>
      <p:sp>
        <p:nvSpPr>
          <p:cNvPr name="TextBox 7" id="7"/>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8" id="8"/>
          <p:cNvSpPr txBox="true"/>
          <p:nvPr/>
        </p:nvSpPr>
        <p:spPr>
          <a:xfrm rot="0">
            <a:off x="-1880409" y="1847648"/>
            <a:ext cx="12583639" cy="452881"/>
          </a:xfrm>
          <a:prstGeom prst="rect">
            <a:avLst/>
          </a:prstGeom>
        </p:spPr>
        <p:txBody>
          <a:bodyPr anchor="t" rtlCol="false" tIns="0" lIns="0" bIns="0" rIns="0">
            <a:spAutoFit/>
          </a:bodyPr>
          <a:lstStyle/>
          <a:p>
            <a:pPr algn="ctr">
              <a:lnSpc>
                <a:spcPts val="3423"/>
              </a:lnSpc>
              <a:spcBef>
                <a:spcPct val="0"/>
              </a:spcBef>
            </a:pPr>
            <a:r>
              <a:rPr lang="en-US" b="true" sz="3199">
                <a:solidFill>
                  <a:srgbClr val="2E686A"/>
                </a:solidFill>
                <a:latin typeface="Gotham Bold"/>
                <a:ea typeface="Gotham Bold"/>
                <a:cs typeface="Gotham Bold"/>
                <a:sym typeface="Gotham Bold"/>
              </a:rPr>
              <a:t>BM25 - Use Cases:</a:t>
            </a:r>
          </a:p>
        </p:txBody>
      </p:sp>
      <p:sp>
        <p:nvSpPr>
          <p:cNvPr name="TextBox 9" id="9"/>
          <p:cNvSpPr txBox="true"/>
          <p:nvPr/>
        </p:nvSpPr>
        <p:spPr>
          <a:xfrm rot="0">
            <a:off x="2071792" y="2646937"/>
            <a:ext cx="8052494" cy="4036404"/>
          </a:xfrm>
          <a:prstGeom prst="rect">
            <a:avLst/>
          </a:prstGeom>
        </p:spPr>
        <p:txBody>
          <a:bodyPr anchor="t" rtlCol="false" tIns="0" lIns="0" bIns="0" rIns="0">
            <a:spAutoFit/>
          </a:bodyPr>
          <a:lstStyle/>
          <a:p>
            <a:pPr algn="just">
              <a:lnSpc>
                <a:spcPts val="4093"/>
              </a:lnSpc>
            </a:pPr>
          </a:p>
          <a:p>
            <a:pPr algn="just" marL="631250" indent="-315625" lvl="1">
              <a:lnSpc>
                <a:spcPts val="4093"/>
              </a:lnSpc>
              <a:buFont typeface="Arial"/>
              <a:buChar char="•"/>
            </a:pPr>
            <a:r>
              <a:rPr lang="en-US" sz="2923">
                <a:solidFill>
                  <a:srgbClr val="000000"/>
                </a:solidFill>
                <a:latin typeface="Gotham"/>
                <a:ea typeface="Gotham"/>
                <a:cs typeface="Gotham"/>
                <a:sym typeface="Gotham"/>
              </a:rPr>
              <a:t>Traditional Search Engines: Used as a core ranking function in </a:t>
            </a:r>
            <a:r>
              <a:rPr lang="en-US" sz="2923">
                <a:solidFill>
                  <a:srgbClr val="000000"/>
                </a:solidFill>
                <a:latin typeface="Gotham"/>
                <a:ea typeface="Gotham"/>
                <a:cs typeface="Gotham"/>
                <a:sym typeface="Gotham"/>
              </a:rPr>
              <a:t>ma</a:t>
            </a:r>
            <a:r>
              <a:rPr lang="en-US" sz="2923">
                <a:solidFill>
                  <a:srgbClr val="000000"/>
                </a:solidFill>
                <a:latin typeface="Gotham"/>
                <a:ea typeface="Gotham"/>
                <a:cs typeface="Gotham"/>
                <a:sym typeface="Gotham"/>
              </a:rPr>
              <a:t>ny search engines.</a:t>
            </a:r>
          </a:p>
          <a:p>
            <a:pPr algn="just" marL="631250" indent="-315625" lvl="1">
              <a:lnSpc>
                <a:spcPts val="4093"/>
              </a:lnSpc>
              <a:buFont typeface="Arial"/>
              <a:buChar char="•"/>
            </a:pPr>
            <a:r>
              <a:rPr lang="en-US" sz="2923">
                <a:solidFill>
                  <a:srgbClr val="000000"/>
                </a:solidFill>
                <a:latin typeface="Gotham"/>
                <a:ea typeface="Gotham"/>
                <a:cs typeface="Gotham"/>
                <a:sym typeface="Gotham"/>
              </a:rPr>
              <a:t>Inf</a:t>
            </a:r>
            <a:r>
              <a:rPr lang="en-US" sz="2923">
                <a:solidFill>
                  <a:srgbClr val="000000"/>
                </a:solidFill>
                <a:latin typeface="Gotham"/>
                <a:ea typeface="Gotham"/>
                <a:cs typeface="Gotham"/>
                <a:sym typeface="Gotham"/>
              </a:rPr>
              <a:t>ormation Retrieval Systems: Widely u</a:t>
            </a:r>
            <a:r>
              <a:rPr lang="en-US" sz="2923">
                <a:solidFill>
                  <a:srgbClr val="000000"/>
                </a:solidFill>
                <a:latin typeface="Gotham"/>
                <a:ea typeface="Gotham"/>
                <a:cs typeface="Gotham"/>
                <a:sym typeface="Gotham"/>
              </a:rPr>
              <a:t>s</a:t>
            </a:r>
            <a:r>
              <a:rPr lang="en-US" sz="2923">
                <a:solidFill>
                  <a:srgbClr val="000000"/>
                </a:solidFill>
                <a:latin typeface="Gotham"/>
                <a:ea typeface="Gotham"/>
                <a:cs typeface="Gotham"/>
                <a:sym typeface="Gotham"/>
              </a:rPr>
              <a:t>ed in various in</a:t>
            </a:r>
            <a:r>
              <a:rPr lang="en-US" sz="2923">
                <a:solidFill>
                  <a:srgbClr val="000000"/>
                </a:solidFill>
                <a:latin typeface="Gotham"/>
                <a:ea typeface="Gotham"/>
                <a:cs typeface="Gotham"/>
                <a:sym typeface="Gotham"/>
              </a:rPr>
              <a:t>formation retrieval applications.</a:t>
            </a:r>
          </a:p>
          <a:p>
            <a:pPr algn="just">
              <a:lnSpc>
                <a:spcPts val="3508"/>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7" id="7"/>
          <p:cNvSpPr txBox="true"/>
          <p:nvPr/>
        </p:nvSpPr>
        <p:spPr>
          <a:xfrm rot="0">
            <a:off x="-2434058" y="1825537"/>
            <a:ext cx="12583639" cy="473549"/>
          </a:xfrm>
          <a:prstGeom prst="rect">
            <a:avLst/>
          </a:prstGeom>
        </p:spPr>
        <p:txBody>
          <a:bodyPr anchor="t" rtlCol="false" tIns="0" lIns="0" bIns="0" rIns="0">
            <a:spAutoFit/>
          </a:bodyPr>
          <a:lstStyle/>
          <a:p>
            <a:pPr algn="ctr">
              <a:lnSpc>
                <a:spcPts val="3530"/>
              </a:lnSpc>
              <a:spcBef>
                <a:spcPct val="0"/>
              </a:spcBef>
            </a:pPr>
            <a:r>
              <a:rPr lang="en-US" b="true" sz="3299">
                <a:solidFill>
                  <a:srgbClr val="2E686A"/>
                </a:solidFill>
                <a:latin typeface="Gotham Bold"/>
                <a:ea typeface="Gotham Bold"/>
                <a:cs typeface="Gotham Bold"/>
                <a:sym typeface="Gotham Bold"/>
              </a:rPr>
              <a:t>Semantic S</a:t>
            </a:r>
            <a:r>
              <a:rPr lang="en-US" b="true" sz="3299">
                <a:solidFill>
                  <a:srgbClr val="2E686A"/>
                </a:solidFill>
                <a:latin typeface="Gotham Bold"/>
                <a:ea typeface="Gotham Bold"/>
                <a:cs typeface="Gotham Bold"/>
                <a:sym typeface="Gotham Bold"/>
              </a:rPr>
              <a:t>plitting</a:t>
            </a:r>
          </a:p>
        </p:txBody>
      </p:sp>
      <p:sp>
        <p:nvSpPr>
          <p:cNvPr name="TextBox 8" id="8"/>
          <p:cNvSpPr txBox="true"/>
          <p:nvPr/>
        </p:nvSpPr>
        <p:spPr>
          <a:xfrm rot="0">
            <a:off x="1335296" y="3096657"/>
            <a:ext cx="13902886" cy="3165600"/>
          </a:xfrm>
          <a:prstGeom prst="rect">
            <a:avLst/>
          </a:prstGeom>
        </p:spPr>
        <p:txBody>
          <a:bodyPr anchor="t" rtlCol="false" tIns="0" lIns="0" bIns="0" rIns="0">
            <a:spAutoFit/>
          </a:bodyPr>
          <a:lstStyle/>
          <a:p>
            <a:pPr algn="just" marL="1323753" indent="-441251" lvl="2">
              <a:lnSpc>
                <a:spcPts val="4291"/>
              </a:lnSpc>
              <a:buFont typeface="Arial"/>
              <a:buChar char="⚬"/>
            </a:pPr>
            <a:r>
              <a:rPr lang="en-US" b="true" sz="3065">
                <a:solidFill>
                  <a:srgbClr val="000000"/>
                </a:solidFill>
                <a:latin typeface="Gotham Bold"/>
                <a:ea typeface="Gotham Bold"/>
                <a:cs typeface="Gotham Bold"/>
                <a:sym typeface="Gotham Bold"/>
              </a:rPr>
              <a:t>S</a:t>
            </a:r>
            <a:r>
              <a:rPr lang="en-US" b="true" sz="3065">
                <a:solidFill>
                  <a:srgbClr val="000000"/>
                </a:solidFill>
                <a:latin typeface="Gotham Bold"/>
                <a:ea typeface="Gotham Bold"/>
                <a:cs typeface="Gotham Bold"/>
                <a:sym typeface="Gotham Bold"/>
              </a:rPr>
              <a:t>emantic splitting involves dividing documents into chunks based on semantic boundaries rather than fixed-size segment</a:t>
            </a:r>
            <a:r>
              <a:rPr lang="en-US" b="true" sz="3065">
                <a:solidFill>
                  <a:srgbClr val="000000"/>
                </a:solidFill>
                <a:latin typeface="Gotham Bold"/>
                <a:ea typeface="Gotham Bold"/>
                <a:cs typeface="Gotham Bold"/>
                <a:sym typeface="Gotham Bold"/>
              </a:rPr>
              <a:t>s.</a:t>
            </a:r>
          </a:p>
          <a:p>
            <a:pPr algn="just">
              <a:lnSpc>
                <a:spcPts val="4291"/>
              </a:lnSpc>
            </a:pPr>
          </a:p>
          <a:p>
            <a:pPr algn="just" marL="1323753" indent="-441251" lvl="2">
              <a:lnSpc>
                <a:spcPts val="4291"/>
              </a:lnSpc>
              <a:buFont typeface="Arial"/>
              <a:buChar char="⚬"/>
            </a:pPr>
            <a:r>
              <a:rPr lang="en-US" b="true" sz="3065">
                <a:solidFill>
                  <a:srgbClr val="000000"/>
                </a:solidFill>
                <a:latin typeface="Gotham Bold"/>
                <a:ea typeface="Gotham Bold"/>
                <a:cs typeface="Gotham Bold"/>
                <a:sym typeface="Gotham Bold"/>
              </a:rPr>
              <a:t> </a:t>
            </a:r>
            <a:r>
              <a:rPr lang="en-US" b="true" sz="3065">
                <a:solidFill>
                  <a:srgbClr val="000000"/>
                </a:solidFill>
                <a:latin typeface="Gotham Bold"/>
                <a:ea typeface="Gotham Bold"/>
                <a:cs typeface="Gotham Bold"/>
                <a:sym typeface="Gotham Bold"/>
              </a:rPr>
              <a:t>This</a:t>
            </a:r>
            <a:r>
              <a:rPr lang="en-US" b="true" sz="3065">
                <a:solidFill>
                  <a:srgbClr val="000000"/>
                </a:solidFill>
                <a:latin typeface="Gotham Bold"/>
                <a:ea typeface="Gotham Bold"/>
                <a:cs typeface="Gotham Bold"/>
                <a:sym typeface="Gotham Bold"/>
              </a:rPr>
              <a:t> ensur</a:t>
            </a:r>
            <a:r>
              <a:rPr lang="en-US" b="true" sz="3065">
                <a:solidFill>
                  <a:srgbClr val="000000"/>
                </a:solidFill>
                <a:latin typeface="Gotham Bold"/>
                <a:ea typeface="Gotham Bold"/>
                <a:cs typeface="Gotham Bold"/>
                <a:sym typeface="Gotham Bold"/>
              </a:rPr>
              <a:t>es that each chunk contains a complete and meaningful unit of information.</a:t>
            </a:r>
          </a:p>
          <a:p>
            <a:pPr algn="just">
              <a:lnSpc>
                <a:spcPts val="3718"/>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2725848" y="1819980"/>
            <a:ext cx="11259190" cy="7382489"/>
          </a:xfrm>
          <a:custGeom>
            <a:avLst/>
            <a:gdLst/>
            <a:ahLst/>
            <a:cxnLst/>
            <a:rect r="r" b="b" t="t" l="l"/>
            <a:pathLst>
              <a:path h="7382489" w="11259190">
                <a:moveTo>
                  <a:pt x="0" y="0"/>
                </a:moveTo>
                <a:lnTo>
                  <a:pt x="11259190" y="0"/>
                </a:lnTo>
                <a:lnTo>
                  <a:pt x="11259190" y="7382490"/>
                </a:lnTo>
                <a:lnTo>
                  <a:pt x="0" y="7382490"/>
                </a:lnTo>
                <a:lnTo>
                  <a:pt x="0" y="0"/>
                </a:lnTo>
                <a:close/>
              </a:path>
            </a:pathLst>
          </a:custGeom>
          <a:blipFill>
            <a:blip r:embed="rId5"/>
            <a:stretch>
              <a:fillRect l="0" t="-5646" r="0" b="-5646"/>
            </a:stretch>
          </a:blipFill>
        </p:spPr>
      </p:sp>
      <p:sp>
        <p:nvSpPr>
          <p:cNvPr name="TextBox 7" id="7"/>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8" id="8"/>
          <p:cNvSpPr txBox="true"/>
          <p:nvPr/>
        </p:nvSpPr>
        <p:spPr>
          <a:xfrm rot="0">
            <a:off x="-2366469" y="1290600"/>
            <a:ext cx="12583639" cy="473549"/>
          </a:xfrm>
          <a:prstGeom prst="rect">
            <a:avLst/>
          </a:prstGeom>
        </p:spPr>
        <p:txBody>
          <a:bodyPr anchor="t" rtlCol="false" tIns="0" lIns="0" bIns="0" rIns="0">
            <a:spAutoFit/>
          </a:bodyPr>
          <a:lstStyle/>
          <a:p>
            <a:pPr algn="ctr">
              <a:lnSpc>
                <a:spcPts val="3530"/>
              </a:lnSpc>
              <a:spcBef>
                <a:spcPct val="0"/>
              </a:spcBef>
            </a:pPr>
            <a:r>
              <a:rPr lang="en-US" b="true" sz="3299">
                <a:solidFill>
                  <a:srgbClr val="2E686A"/>
                </a:solidFill>
                <a:latin typeface="Gotham Bold"/>
                <a:ea typeface="Gotham Bold"/>
                <a:cs typeface="Gotham Bold"/>
                <a:sym typeface="Gotham Bold"/>
              </a:rPr>
              <a:t>Semantic S</a:t>
            </a:r>
            <a:r>
              <a:rPr lang="en-US" b="true" sz="3299">
                <a:solidFill>
                  <a:srgbClr val="2E686A"/>
                </a:solidFill>
                <a:latin typeface="Gotham Bold"/>
                <a:ea typeface="Gotham Bold"/>
                <a:cs typeface="Gotham Bold"/>
                <a:sym typeface="Gotham Bold"/>
              </a:rPr>
              <a:t>plitting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7" id="7"/>
          <p:cNvSpPr txBox="true"/>
          <p:nvPr/>
        </p:nvSpPr>
        <p:spPr>
          <a:xfrm rot="0">
            <a:off x="-1325932" y="832502"/>
            <a:ext cx="12583639" cy="420971"/>
          </a:xfrm>
          <a:prstGeom prst="rect">
            <a:avLst/>
          </a:prstGeom>
        </p:spPr>
        <p:txBody>
          <a:bodyPr anchor="t" rtlCol="false" tIns="0" lIns="0" bIns="0" rIns="0">
            <a:spAutoFit/>
          </a:bodyPr>
          <a:lstStyle/>
          <a:p>
            <a:pPr algn="ctr">
              <a:lnSpc>
                <a:spcPts val="3209"/>
              </a:lnSpc>
              <a:spcBef>
                <a:spcPct val="0"/>
              </a:spcBef>
            </a:pPr>
            <a:r>
              <a:rPr lang="en-US" b="true" sz="2999">
                <a:solidFill>
                  <a:srgbClr val="2E686A"/>
                </a:solidFill>
                <a:latin typeface="Gotham Bold"/>
                <a:ea typeface="Gotham Bold"/>
                <a:cs typeface="Gotham Bold"/>
                <a:sym typeface="Gotham Bold"/>
              </a:rPr>
              <a:t>Semantic S</a:t>
            </a:r>
            <a:r>
              <a:rPr lang="en-US" b="true" sz="2999">
                <a:solidFill>
                  <a:srgbClr val="2E686A"/>
                </a:solidFill>
                <a:latin typeface="Gotham Bold"/>
                <a:ea typeface="Gotham Bold"/>
                <a:cs typeface="Gotham Bold"/>
                <a:sym typeface="Gotham Bold"/>
              </a:rPr>
              <a:t>plitting</a:t>
            </a:r>
          </a:p>
        </p:txBody>
      </p:sp>
      <p:sp>
        <p:nvSpPr>
          <p:cNvPr name="TextBox 8" id="8"/>
          <p:cNvSpPr txBox="true"/>
          <p:nvPr/>
        </p:nvSpPr>
        <p:spPr>
          <a:xfrm rot="0">
            <a:off x="1386340" y="1615336"/>
            <a:ext cx="13506392" cy="6510547"/>
          </a:xfrm>
          <a:prstGeom prst="rect">
            <a:avLst/>
          </a:prstGeom>
        </p:spPr>
        <p:txBody>
          <a:bodyPr anchor="t" rtlCol="false" tIns="0" lIns="0" bIns="0" rIns="0">
            <a:spAutoFit/>
          </a:bodyPr>
          <a:lstStyle/>
          <a:p>
            <a:pPr algn="just" marL="618697" indent="-309348" lvl="1">
              <a:lnSpc>
                <a:spcPts val="4011"/>
              </a:lnSpc>
              <a:buFont typeface="Arial"/>
              <a:buChar char="•"/>
            </a:pPr>
            <a:r>
              <a:rPr lang="en-US" b="true" sz="2865">
                <a:solidFill>
                  <a:srgbClr val="000000"/>
                </a:solidFill>
                <a:latin typeface="Gotham Bold"/>
                <a:ea typeface="Gotham Bold"/>
                <a:cs typeface="Gotham Bold"/>
                <a:sym typeface="Gotham Bold"/>
              </a:rPr>
              <a:t>H</a:t>
            </a:r>
            <a:r>
              <a:rPr lang="en-US" b="true" sz="2865">
                <a:solidFill>
                  <a:srgbClr val="000000"/>
                </a:solidFill>
                <a:latin typeface="Gotham Bold"/>
                <a:ea typeface="Gotham Bold"/>
                <a:cs typeface="Gotham Bold"/>
                <a:sym typeface="Gotham Bold"/>
              </a:rPr>
              <a:t>ow it Works:</a:t>
            </a:r>
          </a:p>
          <a:p>
            <a:pPr algn="just">
              <a:lnSpc>
                <a:spcPts val="4011"/>
              </a:lnSpc>
            </a:pPr>
          </a:p>
          <a:p>
            <a:pPr algn="just" marL="618697" indent="-309348" lvl="1">
              <a:lnSpc>
                <a:spcPts val="4011"/>
              </a:lnSpc>
              <a:buFont typeface="Arial"/>
              <a:buChar char="•"/>
            </a:pPr>
            <a:r>
              <a:rPr lang="en-US" b="true" sz="2865">
                <a:solidFill>
                  <a:srgbClr val="000000"/>
                </a:solidFill>
                <a:latin typeface="Gotham Bold"/>
                <a:ea typeface="Gotham Bold"/>
                <a:cs typeface="Gotham Bold"/>
                <a:sym typeface="Gotham Bold"/>
              </a:rPr>
              <a:t>Semantic Analysis: The document is analyzed to identify semantic boundaries, such as: </a:t>
            </a: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Sente</a:t>
            </a:r>
            <a:r>
              <a:rPr lang="en-US" b="true" sz="2865">
                <a:solidFill>
                  <a:srgbClr val="000000"/>
                </a:solidFill>
                <a:latin typeface="Gotham Bold"/>
                <a:ea typeface="Gotham Bold"/>
                <a:cs typeface="Gotham Bold"/>
                <a:sym typeface="Gotham Bold"/>
              </a:rPr>
              <a:t>nce Boundaries: Splitting at the end of sentences.</a:t>
            </a: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Paragraph Boundaries: Splitting at the end of paragraphs.</a:t>
            </a: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S</a:t>
            </a:r>
            <a:r>
              <a:rPr lang="en-US" b="true" sz="2865">
                <a:solidFill>
                  <a:srgbClr val="000000"/>
                </a:solidFill>
                <a:latin typeface="Gotham Bold"/>
                <a:ea typeface="Gotham Bold"/>
                <a:cs typeface="Gotham Bold"/>
                <a:sym typeface="Gotham Bold"/>
              </a:rPr>
              <a:t>ection Boundaries: Splitting at the beginning and </a:t>
            </a:r>
            <a:r>
              <a:rPr lang="en-US" b="true" sz="2865">
                <a:solidFill>
                  <a:srgbClr val="000000"/>
                </a:solidFill>
                <a:latin typeface="Gotham Bold"/>
                <a:ea typeface="Gotham Bold"/>
                <a:cs typeface="Gotham Bold"/>
                <a:sym typeface="Gotham Bold"/>
              </a:rPr>
              <a:t>end of sections.</a:t>
            </a: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Topic Seg</a:t>
            </a:r>
            <a:r>
              <a:rPr lang="en-US" b="true" sz="2865">
                <a:solidFill>
                  <a:srgbClr val="000000"/>
                </a:solidFill>
                <a:latin typeface="Gotham Bold"/>
                <a:ea typeface="Gotham Bold"/>
                <a:cs typeface="Gotham Bold"/>
                <a:sym typeface="Gotham Bold"/>
              </a:rPr>
              <a:t>mentation: Using topic modelling techniqu</a:t>
            </a:r>
            <a:r>
              <a:rPr lang="en-US" b="true" sz="2865">
                <a:solidFill>
                  <a:srgbClr val="000000"/>
                </a:solidFill>
                <a:latin typeface="Gotham Bold"/>
                <a:ea typeface="Gotham Bold"/>
                <a:cs typeface="Gotham Bold"/>
                <a:sym typeface="Gotham Bold"/>
              </a:rPr>
              <a:t>es to identify changes in topic.</a:t>
            </a:r>
          </a:p>
          <a:p>
            <a:pPr algn="just" marL="1237393" indent="-412464" lvl="2">
              <a:lnSpc>
                <a:spcPts val="4011"/>
              </a:lnSpc>
              <a:buFont typeface="Arial"/>
              <a:buChar char="⚬"/>
            </a:pPr>
            <a:r>
              <a:rPr lang="en-US" b="true" sz="2865">
                <a:solidFill>
                  <a:srgbClr val="000000"/>
                </a:solidFill>
                <a:latin typeface="Gotham Bold"/>
                <a:ea typeface="Gotham Bold"/>
                <a:cs typeface="Gotham Bold"/>
                <a:sym typeface="Gotham Bold"/>
              </a:rPr>
              <a:t>Chunk Creation: Chunks are created based on the identified semantic boundaries.</a:t>
            </a:r>
          </a:p>
          <a:p>
            <a:pPr algn="just">
              <a:lnSpc>
                <a:spcPts val="3438"/>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7731" y="307423"/>
            <a:ext cx="1454417" cy="1205665"/>
          </a:xfrm>
          <a:custGeom>
            <a:avLst/>
            <a:gdLst/>
            <a:ahLst/>
            <a:cxnLst/>
            <a:rect r="r" b="b" t="t" l="l"/>
            <a:pathLst>
              <a:path h="1205665" w="1454417">
                <a:moveTo>
                  <a:pt x="0" y="0"/>
                </a:moveTo>
                <a:lnTo>
                  <a:pt x="1454417" y="0"/>
                </a:lnTo>
                <a:lnTo>
                  <a:pt x="1454417" y="1205665"/>
                </a:lnTo>
                <a:lnTo>
                  <a:pt x="0" y="1205665"/>
                </a:lnTo>
                <a:lnTo>
                  <a:pt x="0" y="0"/>
                </a:lnTo>
                <a:close/>
              </a:path>
            </a:pathLst>
          </a:custGeom>
          <a:blipFill>
            <a:blip r:embed="rId4"/>
            <a:stretch>
              <a:fillRect l="0" t="-6021" r="-6847" b="-6021"/>
            </a:stretch>
          </a:blipFill>
        </p:spPr>
      </p:sp>
      <p:sp>
        <p:nvSpPr>
          <p:cNvPr name="Freeform 4" id="4"/>
          <p:cNvSpPr/>
          <p:nvPr/>
        </p:nvSpPr>
        <p:spPr>
          <a:xfrm flipH="false" flipV="false" rot="0">
            <a:off x="878234" y="8801690"/>
            <a:ext cx="1193557" cy="989420"/>
          </a:xfrm>
          <a:custGeom>
            <a:avLst/>
            <a:gdLst/>
            <a:ahLst/>
            <a:cxnLst/>
            <a:rect r="r" b="b" t="t" l="l"/>
            <a:pathLst>
              <a:path h="989420" w="1193557">
                <a:moveTo>
                  <a:pt x="0" y="0"/>
                </a:moveTo>
                <a:lnTo>
                  <a:pt x="1193558" y="0"/>
                </a:lnTo>
                <a:lnTo>
                  <a:pt x="1193558" y="989420"/>
                </a:lnTo>
                <a:lnTo>
                  <a:pt x="0" y="989420"/>
                </a:lnTo>
                <a:lnTo>
                  <a:pt x="0" y="0"/>
                </a:lnTo>
                <a:close/>
              </a:path>
            </a:pathLst>
          </a:custGeom>
          <a:blipFill>
            <a:blip r:embed="rId4"/>
            <a:stretch>
              <a:fillRect l="0" t="-6021" r="-6847" b="-6021"/>
            </a:stretch>
          </a:blipFill>
        </p:spPr>
      </p:sp>
      <p:sp>
        <p:nvSpPr>
          <p:cNvPr name="AutoShape 5" id="5"/>
          <p:cNvSpPr/>
          <p:nvPr/>
        </p:nvSpPr>
        <p:spPr>
          <a:xfrm flipV="true">
            <a:off x="2332385" y="9277350"/>
            <a:ext cx="12154467" cy="1905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9957830" y="1359643"/>
            <a:ext cx="6676603" cy="7090198"/>
          </a:xfrm>
          <a:custGeom>
            <a:avLst/>
            <a:gdLst/>
            <a:ahLst/>
            <a:cxnLst/>
            <a:rect r="r" b="b" t="t" l="l"/>
            <a:pathLst>
              <a:path h="7090198" w="6676603">
                <a:moveTo>
                  <a:pt x="0" y="0"/>
                </a:moveTo>
                <a:lnTo>
                  <a:pt x="6676603" y="0"/>
                </a:lnTo>
                <a:lnTo>
                  <a:pt x="6676603" y="7090198"/>
                </a:lnTo>
                <a:lnTo>
                  <a:pt x="0" y="7090198"/>
                </a:lnTo>
                <a:lnTo>
                  <a:pt x="0" y="0"/>
                </a:lnTo>
                <a:close/>
              </a:path>
            </a:pathLst>
          </a:custGeom>
          <a:blipFill>
            <a:blip r:embed="rId5"/>
            <a:stretch>
              <a:fillRect l="0" t="0" r="0" b="0"/>
            </a:stretch>
          </a:blipFill>
        </p:spPr>
      </p:sp>
      <p:sp>
        <p:nvSpPr>
          <p:cNvPr name="TextBox 7" id="7"/>
          <p:cNvSpPr txBox="true"/>
          <p:nvPr/>
        </p:nvSpPr>
        <p:spPr>
          <a:xfrm rot="0">
            <a:off x="14639094" y="9155430"/>
            <a:ext cx="2620206" cy="215265"/>
          </a:xfrm>
          <a:prstGeom prst="rect">
            <a:avLst/>
          </a:prstGeom>
        </p:spPr>
        <p:txBody>
          <a:bodyPr anchor="t" rtlCol="false" tIns="0" lIns="0" bIns="0" rIns="0">
            <a:spAutoFit/>
          </a:bodyPr>
          <a:lstStyle/>
          <a:p>
            <a:pPr algn="ctr">
              <a:lnSpc>
                <a:spcPts val="1605"/>
              </a:lnSpc>
              <a:spcBef>
                <a:spcPct val="0"/>
              </a:spcBef>
            </a:pPr>
            <a:r>
              <a:rPr lang="en-US" sz="1500">
                <a:solidFill>
                  <a:srgbClr val="000000"/>
                </a:solidFill>
                <a:latin typeface="Gotham"/>
                <a:ea typeface="Gotham"/>
                <a:cs typeface="Gotham"/>
                <a:sym typeface="Gotham"/>
              </a:rPr>
              <a:t>www.publica.academy</a:t>
            </a:r>
          </a:p>
        </p:txBody>
      </p:sp>
      <p:sp>
        <p:nvSpPr>
          <p:cNvPr name="TextBox 8" id="8"/>
          <p:cNvSpPr txBox="true"/>
          <p:nvPr/>
        </p:nvSpPr>
        <p:spPr>
          <a:xfrm rot="0">
            <a:off x="-1092468" y="1589650"/>
            <a:ext cx="12583639" cy="473549"/>
          </a:xfrm>
          <a:prstGeom prst="rect">
            <a:avLst/>
          </a:prstGeom>
        </p:spPr>
        <p:txBody>
          <a:bodyPr anchor="t" rtlCol="false" tIns="0" lIns="0" bIns="0" rIns="0">
            <a:spAutoFit/>
          </a:bodyPr>
          <a:lstStyle/>
          <a:p>
            <a:pPr algn="ctr">
              <a:lnSpc>
                <a:spcPts val="3530"/>
              </a:lnSpc>
              <a:spcBef>
                <a:spcPct val="0"/>
              </a:spcBef>
            </a:pPr>
            <a:r>
              <a:rPr lang="en-US" b="true" sz="3299">
                <a:solidFill>
                  <a:srgbClr val="2E686A"/>
                </a:solidFill>
                <a:latin typeface="Gotham Bold"/>
                <a:ea typeface="Gotham Bold"/>
                <a:cs typeface="Gotham Bold"/>
                <a:sym typeface="Gotham Bold"/>
              </a:rPr>
              <a:t>Semantic S</a:t>
            </a:r>
            <a:r>
              <a:rPr lang="en-US" b="true" sz="3299">
                <a:solidFill>
                  <a:srgbClr val="2E686A"/>
                </a:solidFill>
                <a:latin typeface="Gotham Bold"/>
                <a:ea typeface="Gotham Bold"/>
                <a:cs typeface="Gotham Bold"/>
                <a:sym typeface="Gotham Bold"/>
              </a:rPr>
              <a:t>plitting : Benefits:</a:t>
            </a:r>
          </a:p>
        </p:txBody>
      </p:sp>
      <p:sp>
        <p:nvSpPr>
          <p:cNvPr name="TextBox 9" id="9"/>
          <p:cNvSpPr txBox="true"/>
          <p:nvPr/>
        </p:nvSpPr>
        <p:spPr>
          <a:xfrm rot="0">
            <a:off x="1248862" y="2327062"/>
            <a:ext cx="8149034" cy="5337168"/>
          </a:xfrm>
          <a:prstGeom prst="rect">
            <a:avLst/>
          </a:prstGeom>
        </p:spPr>
        <p:txBody>
          <a:bodyPr anchor="t" rtlCol="false" tIns="0" lIns="0" bIns="0" rIns="0">
            <a:spAutoFit/>
          </a:bodyPr>
          <a:lstStyle/>
          <a:p>
            <a:pPr algn="just">
              <a:lnSpc>
                <a:spcPts val="4291"/>
              </a:lnSpc>
            </a:pPr>
          </a:p>
          <a:p>
            <a:pPr algn="just" marL="1323753" indent="-441251" lvl="2">
              <a:lnSpc>
                <a:spcPts val="4291"/>
              </a:lnSpc>
              <a:buFont typeface="Arial"/>
              <a:buChar char="⚬"/>
            </a:pPr>
            <a:r>
              <a:rPr lang="en-US" b="true" sz="3065">
                <a:solidFill>
                  <a:srgbClr val="000000"/>
                </a:solidFill>
                <a:latin typeface="Gotham Bold"/>
                <a:ea typeface="Gotham Bold"/>
                <a:cs typeface="Gotham Bold"/>
                <a:sym typeface="Gotham Bold"/>
              </a:rPr>
              <a:t>Improved Context:</a:t>
            </a:r>
            <a:r>
              <a:rPr lang="en-US" b="true" sz="3065">
                <a:solidFill>
                  <a:srgbClr val="000000"/>
                </a:solidFill>
                <a:latin typeface="Gotham Bold"/>
                <a:ea typeface="Gotham Bold"/>
                <a:cs typeface="Gotham Bold"/>
                <a:sym typeface="Gotham Bold"/>
              </a:rPr>
              <a:t> E</a:t>
            </a:r>
            <a:r>
              <a:rPr lang="en-US" b="true" sz="3065">
                <a:solidFill>
                  <a:srgbClr val="000000"/>
                </a:solidFill>
                <a:latin typeface="Gotham Bold"/>
                <a:ea typeface="Gotham Bold"/>
                <a:cs typeface="Gotham Bold"/>
                <a:sym typeface="Gotham Bold"/>
              </a:rPr>
              <a:t>ach chunk contains a complete and meaningful unit of information, providing better context for retrieval.</a:t>
            </a:r>
          </a:p>
          <a:p>
            <a:pPr algn="just">
              <a:lnSpc>
                <a:spcPts val="4291"/>
              </a:lnSpc>
            </a:pPr>
          </a:p>
          <a:p>
            <a:pPr algn="just" marL="1323753" indent="-441251" lvl="2">
              <a:lnSpc>
                <a:spcPts val="4291"/>
              </a:lnSpc>
              <a:buFont typeface="Arial"/>
              <a:buChar char="⚬"/>
            </a:pPr>
            <a:r>
              <a:rPr lang="en-US" b="true" sz="3065">
                <a:solidFill>
                  <a:srgbClr val="000000"/>
                </a:solidFill>
                <a:latin typeface="Gotham Bold"/>
                <a:ea typeface="Gotham Bold"/>
                <a:cs typeface="Gotham Bold"/>
                <a:sym typeface="Gotham Bold"/>
              </a:rPr>
              <a:t>Reduced Noise: Avoids splitting sentences or paragraphs.</a:t>
            </a:r>
          </a:p>
          <a:p>
            <a:pPr algn="just">
              <a:lnSpc>
                <a:spcPts val="3718"/>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290128" y="3239630"/>
            <a:ext cx="992463" cy="99246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686A"/>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name="Group 5" id="5"/>
          <p:cNvGrpSpPr/>
          <p:nvPr/>
        </p:nvGrpSpPr>
        <p:grpSpPr>
          <a:xfrm rot="0">
            <a:off x="16532281" y="5019814"/>
            <a:ext cx="508158" cy="543805"/>
            <a:chOff x="0" y="0"/>
            <a:chExt cx="812800" cy="869819"/>
          </a:xfrm>
        </p:grpSpPr>
        <p:sp>
          <p:nvSpPr>
            <p:cNvPr name="Freeform 6" id="6"/>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387F7F"/>
              </a:solidFill>
              <a:prstDash val="solid"/>
              <a:miter/>
            </a:ln>
          </p:spPr>
        </p:sp>
        <p:sp>
          <p:nvSpPr>
            <p:cNvPr name="TextBox 7" id="7"/>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8" id="8"/>
          <p:cNvGrpSpPr/>
          <p:nvPr/>
        </p:nvGrpSpPr>
        <p:grpSpPr>
          <a:xfrm rot="0">
            <a:off x="16532281" y="2573867"/>
            <a:ext cx="508158" cy="543805"/>
            <a:chOff x="0" y="0"/>
            <a:chExt cx="812800" cy="869819"/>
          </a:xfrm>
        </p:grpSpPr>
        <p:sp>
          <p:nvSpPr>
            <p:cNvPr name="Freeform 9" id="9"/>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387F7F"/>
              </a:solidFill>
              <a:prstDash val="solid"/>
              <a:miter/>
            </a:ln>
          </p:spPr>
        </p:sp>
        <p:sp>
          <p:nvSpPr>
            <p:cNvPr name="TextBox 10" id="10"/>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11" id="11"/>
          <p:cNvGrpSpPr/>
          <p:nvPr/>
        </p:nvGrpSpPr>
        <p:grpSpPr>
          <a:xfrm rot="0">
            <a:off x="16532281" y="5685577"/>
            <a:ext cx="508158" cy="543805"/>
            <a:chOff x="0" y="0"/>
            <a:chExt cx="812800" cy="869819"/>
          </a:xfrm>
        </p:grpSpPr>
        <p:sp>
          <p:nvSpPr>
            <p:cNvPr name="Freeform 12" id="12"/>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387F7F"/>
              </a:solidFill>
              <a:prstDash val="solid"/>
              <a:miter/>
            </a:ln>
          </p:spPr>
        </p:sp>
        <p:sp>
          <p:nvSpPr>
            <p:cNvPr name="TextBox 13" id="13"/>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14" id="14"/>
          <p:cNvGrpSpPr/>
          <p:nvPr/>
        </p:nvGrpSpPr>
        <p:grpSpPr>
          <a:xfrm rot="0">
            <a:off x="16532281" y="4354051"/>
            <a:ext cx="508158" cy="543805"/>
            <a:chOff x="0" y="0"/>
            <a:chExt cx="812800" cy="869819"/>
          </a:xfrm>
        </p:grpSpPr>
        <p:sp>
          <p:nvSpPr>
            <p:cNvPr name="Freeform 15" id="15"/>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387F7F"/>
              </a:solidFill>
              <a:prstDash val="solid"/>
              <a:miter/>
            </a:ln>
          </p:spPr>
        </p:sp>
        <p:sp>
          <p:nvSpPr>
            <p:cNvPr name="TextBox 16" id="16"/>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17" id="17"/>
          <p:cNvGrpSpPr/>
          <p:nvPr/>
        </p:nvGrpSpPr>
        <p:grpSpPr>
          <a:xfrm rot="0">
            <a:off x="16532281" y="7017103"/>
            <a:ext cx="508158" cy="543805"/>
            <a:chOff x="0" y="0"/>
            <a:chExt cx="812800" cy="869819"/>
          </a:xfrm>
        </p:grpSpPr>
        <p:sp>
          <p:nvSpPr>
            <p:cNvPr name="Freeform 18" id="18"/>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387F7F"/>
              </a:solidFill>
              <a:prstDash val="solid"/>
              <a:miter/>
            </a:ln>
          </p:spPr>
        </p:sp>
        <p:sp>
          <p:nvSpPr>
            <p:cNvPr name="TextBox 19" id="19"/>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20" id="20"/>
          <p:cNvGrpSpPr/>
          <p:nvPr/>
        </p:nvGrpSpPr>
        <p:grpSpPr>
          <a:xfrm rot="0">
            <a:off x="16532281" y="6351340"/>
            <a:ext cx="508158" cy="543805"/>
            <a:chOff x="0" y="0"/>
            <a:chExt cx="812800" cy="869819"/>
          </a:xfrm>
        </p:grpSpPr>
        <p:sp>
          <p:nvSpPr>
            <p:cNvPr name="Freeform 21" id="2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387F7F"/>
              </a:solidFill>
              <a:prstDash val="solid"/>
              <a:miter/>
            </a:ln>
          </p:spPr>
        </p:sp>
        <p:sp>
          <p:nvSpPr>
            <p:cNvPr name="TextBox 22" id="2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23" id="23"/>
          <p:cNvGrpSpPr/>
          <p:nvPr/>
        </p:nvGrpSpPr>
        <p:grpSpPr>
          <a:xfrm rot="0">
            <a:off x="16532281" y="7684734"/>
            <a:ext cx="508158" cy="543805"/>
            <a:chOff x="0" y="0"/>
            <a:chExt cx="812800" cy="869819"/>
          </a:xfrm>
        </p:grpSpPr>
        <p:sp>
          <p:nvSpPr>
            <p:cNvPr name="Freeform 24" id="2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387F7F"/>
              </a:solidFill>
              <a:prstDash val="solid"/>
              <a:miter/>
            </a:ln>
          </p:spPr>
        </p:sp>
        <p:sp>
          <p:nvSpPr>
            <p:cNvPr name="TextBox 25" id="2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name="Group 26" id="26"/>
          <p:cNvGrpSpPr/>
          <p:nvPr/>
        </p:nvGrpSpPr>
        <p:grpSpPr>
          <a:xfrm rot="0">
            <a:off x="16532281" y="8352364"/>
            <a:ext cx="508158" cy="543805"/>
            <a:chOff x="0" y="0"/>
            <a:chExt cx="812800" cy="869819"/>
          </a:xfrm>
        </p:grpSpPr>
        <p:sp>
          <p:nvSpPr>
            <p:cNvPr name="Freeform 27" id="2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387F7F"/>
              </a:solidFill>
              <a:prstDash val="solid"/>
              <a:miter/>
            </a:ln>
          </p:spPr>
        </p:sp>
        <p:sp>
          <p:nvSpPr>
            <p:cNvPr name="TextBox 28" id="2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name="Freeform 29" id="29"/>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0">
            <a:off x="-6283193" y="3975266"/>
            <a:ext cx="13769107" cy="10287000"/>
          </a:xfrm>
          <a:custGeom>
            <a:avLst/>
            <a:gdLst/>
            <a:ahLst/>
            <a:cxnLst/>
            <a:rect r="r" b="b" t="t" l="l"/>
            <a:pathLst>
              <a:path h="10287000" w="13769107">
                <a:moveTo>
                  <a:pt x="0" y="0"/>
                </a:moveTo>
                <a:lnTo>
                  <a:pt x="13769107" y="0"/>
                </a:lnTo>
                <a:lnTo>
                  <a:pt x="13769107" y="10287000"/>
                </a:lnTo>
                <a:lnTo>
                  <a:pt x="0" y="10287000"/>
                </a:lnTo>
                <a:lnTo>
                  <a:pt x="0" y="0"/>
                </a:lnTo>
                <a:close/>
              </a:path>
            </a:pathLst>
          </a:custGeom>
          <a:blipFill>
            <a:blip r:embed="rId4">
              <a:alphaModFix amt="3000"/>
            </a:blip>
            <a:stretch>
              <a:fillRect l="-94411" t="0" r="-92934" b="-133205"/>
            </a:stretch>
          </a:blipFill>
        </p:spPr>
      </p:sp>
      <p:grpSp>
        <p:nvGrpSpPr>
          <p:cNvPr name="Group 31" id="31"/>
          <p:cNvGrpSpPr/>
          <p:nvPr/>
        </p:nvGrpSpPr>
        <p:grpSpPr>
          <a:xfrm rot="0">
            <a:off x="5272580" y="3486630"/>
            <a:ext cx="7742841" cy="3313740"/>
            <a:chOff x="0" y="0"/>
            <a:chExt cx="2039267" cy="872754"/>
          </a:xfrm>
        </p:grpSpPr>
        <p:sp>
          <p:nvSpPr>
            <p:cNvPr name="Freeform 32" id="32"/>
            <p:cNvSpPr/>
            <p:nvPr/>
          </p:nvSpPr>
          <p:spPr>
            <a:xfrm flipH="false" flipV="false" rot="0">
              <a:off x="0" y="0"/>
              <a:ext cx="2039267" cy="872754"/>
            </a:xfrm>
            <a:custGeom>
              <a:avLst/>
              <a:gdLst/>
              <a:ahLst/>
              <a:cxnLst/>
              <a:rect r="r" b="b" t="t" l="l"/>
              <a:pathLst>
                <a:path h="872754" w="2039267">
                  <a:moveTo>
                    <a:pt x="50994" y="0"/>
                  </a:moveTo>
                  <a:lnTo>
                    <a:pt x="1988273" y="0"/>
                  </a:lnTo>
                  <a:cubicBezTo>
                    <a:pt x="2016436" y="0"/>
                    <a:pt x="2039267" y="22831"/>
                    <a:pt x="2039267" y="50994"/>
                  </a:cubicBezTo>
                  <a:lnTo>
                    <a:pt x="2039267" y="821760"/>
                  </a:lnTo>
                  <a:cubicBezTo>
                    <a:pt x="2039267" y="849924"/>
                    <a:pt x="2016436" y="872754"/>
                    <a:pt x="1988273" y="872754"/>
                  </a:cubicBezTo>
                  <a:lnTo>
                    <a:pt x="50994" y="872754"/>
                  </a:lnTo>
                  <a:cubicBezTo>
                    <a:pt x="22831" y="872754"/>
                    <a:pt x="0" y="849924"/>
                    <a:pt x="0" y="821760"/>
                  </a:cubicBezTo>
                  <a:lnTo>
                    <a:pt x="0" y="50994"/>
                  </a:lnTo>
                  <a:cubicBezTo>
                    <a:pt x="0" y="22831"/>
                    <a:pt x="22831" y="0"/>
                    <a:pt x="50994" y="0"/>
                  </a:cubicBezTo>
                  <a:close/>
                </a:path>
              </a:pathLst>
            </a:custGeom>
            <a:solidFill>
              <a:srgbClr val="2E686A"/>
            </a:solidFill>
          </p:spPr>
        </p:sp>
        <p:sp>
          <p:nvSpPr>
            <p:cNvPr name="TextBox 33" id="33"/>
            <p:cNvSpPr txBox="true"/>
            <p:nvPr/>
          </p:nvSpPr>
          <p:spPr>
            <a:xfrm>
              <a:off x="0" y="-28575"/>
              <a:ext cx="2039267" cy="901329"/>
            </a:xfrm>
            <a:prstGeom prst="rect">
              <a:avLst/>
            </a:prstGeom>
          </p:spPr>
          <p:txBody>
            <a:bodyPr anchor="ctr" rtlCol="false" tIns="50800" lIns="50800" bIns="50800" rIns="50800"/>
            <a:lstStyle/>
            <a:p>
              <a:pPr algn="ctr">
                <a:lnSpc>
                  <a:spcPts val="2380"/>
                </a:lnSpc>
              </a:pPr>
            </a:p>
          </p:txBody>
        </p:sp>
      </p:grpSp>
      <p:grpSp>
        <p:nvGrpSpPr>
          <p:cNvPr name="Group 34" id="34"/>
          <p:cNvGrpSpPr/>
          <p:nvPr/>
        </p:nvGrpSpPr>
        <p:grpSpPr>
          <a:xfrm rot="0">
            <a:off x="6067633" y="5583725"/>
            <a:ext cx="6152734" cy="614189"/>
            <a:chOff x="0" y="0"/>
            <a:chExt cx="1620473" cy="161762"/>
          </a:xfrm>
        </p:grpSpPr>
        <p:sp>
          <p:nvSpPr>
            <p:cNvPr name="Freeform 35" id="35"/>
            <p:cNvSpPr/>
            <p:nvPr/>
          </p:nvSpPr>
          <p:spPr>
            <a:xfrm flipH="false" flipV="false" rot="0">
              <a:off x="0" y="0"/>
              <a:ext cx="1620473" cy="161762"/>
            </a:xfrm>
            <a:custGeom>
              <a:avLst/>
              <a:gdLst/>
              <a:ahLst/>
              <a:cxnLst/>
              <a:rect r="r" b="b" t="t" l="l"/>
              <a:pathLst>
                <a:path h="161762" w="1620473">
                  <a:moveTo>
                    <a:pt x="64173" y="0"/>
                  </a:moveTo>
                  <a:lnTo>
                    <a:pt x="1556300" y="0"/>
                  </a:lnTo>
                  <a:cubicBezTo>
                    <a:pt x="1573320" y="0"/>
                    <a:pt x="1589643" y="6761"/>
                    <a:pt x="1601677" y="18796"/>
                  </a:cubicBezTo>
                  <a:cubicBezTo>
                    <a:pt x="1613712" y="30830"/>
                    <a:pt x="1620473" y="47153"/>
                    <a:pt x="1620473" y="64173"/>
                  </a:cubicBezTo>
                  <a:lnTo>
                    <a:pt x="1620473" y="97589"/>
                  </a:lnTo>
                  <a:cubicBezTo>
                    <a:pt x="1620473" y="133031"/>
                    <a:pt x="1591742" y="161762"/>
                    <a:pt x="1556300" y="161762"/>
                  </a:cubicBezTo>
                  <a:lnTo>
                    <a:pt x="64173" y="161762"/>
                  </a:lnTo>
                  <a:cubicBezTo>
                    <a:pt x="28731" y="161762"/>
                    <a:pt x="0" y="133031"/>
                    <a:pt x="0" y="97589"/>
                  </a:cubicBezTo>
                  <a:lnTo>
                    <a:pt x="0" y="64173"/>
                  </a:lnTo>
                  <a:cubicBezTo>
                    <a:pt x="0" y="28731"/>
                    <a:pt x="28731" y="0"/>
                    <a:pt x="64173" y="0"/>
                  </a:cubicBezTo>
                  <a:close/>
                </a:path>
              </a:pathLst>
            </a:custGeom>
            <a:solidFill>
              <a:srgbClr val="387F7F"/>
            </a:solidFill>
          </p:spPr>
        </p:sp>
        <p:sp>
          <p:nvSpPr>
            <p:cNvPr name="TextBox 36" id="36"/>
            <p:cNvSpPr txBox="true"/>
            <p:nvPr/>
          </p:nvSpPr>
          <p:spPr>
            <a:xfrm>
              <a:off x="0" y="-28575"/>
              <a:ext cx="1620473" cy="190337"/>
            </a:xfrm>
            <a:prstGeom prst="rect">
              <a:avLst/>
            </a:prstGeom>
          </p:spPr>
          <p:txBody>
            <a:bodyPr anchor="ctr" rtlCol="false" tIns="50800" lIns="50800" bIns="50800" rIns="50800"/>
            <a:lstStyle/>
            <a:p>
              <a:pPr algn="ctr">
                <a:lnSpc>
                  <a:spcPts val="2380"/>
                </a:lnSpc>
              </a:pPr>
            </a:p>
          </p:txBody>
        </p:sp>
      </p:grpSp>
      <p:sp>
        <p:nvSpPr>
          <p:cNvPr name="TextBox 37" id="37"/>
          <p:cNvSpPr txBox="true"/>
          <p:nvPr/>
        </p:nvSpPr>
        <p:spPr>
          <a:xfrm rot="0">
            <a:off x="5731312" y="3932090"/>
            <a:ext cx="6825375" cy="1651635"/>
          </a:xfrm>
          <a:prstGeom prst="rect">
            <a:avLst/>
          </a:prstGeom>
        </p:spPr>
        <p:txBody>
          <a:bodyPr anchor="t" rtlCol="false" tIns="0" lIns="0" bIns="0" rIns="0">
            <a:spAutoFit/>
          </a:bodyPr>
          <a:lstStyle/>
          <a:p>
            <a:pPr algn="ctr">
              <a:lnSpc>
                <a:spcPts val="6420"/>
              </a:lnSpc>
            </a:pPr>
            <a:r>
              <a:rPr lang="en-US" sz="6000" b="true">
                <a:solidFill>
                  <a:srgbClr val="FFFFFF"/>
                </a:solidFill>
                <a:latin typeface="Gotham Heavy"/>
                <a:ea typeface="Gotham Heavy"/>
                <a:cs typeface="Gotham Heavy"/>
                <a:sym typeface="Gotham Heavy"/>
              </a:rPr>
              <a:t>Glad  to see you</a:t>
            </a:r>
          </a:p>
          <a:p>
            <a:pPr algn="ctr">
              <a:lnSpc>
                <a:spcPts val="6420"/>
              </a:lnSpc>
            </a:pPr>
            <a:r>
              <a:rPr lang="en-US" b="true" sz="6000">
                <a:solidFill>
                  <a:srgbClr val="FFFFFF"/>
                </a:solidFill>
                <a:latin typeface="Gotham Heavy"/>
                <a:ea typeface="Gotham Heavy"/>
                <a:cs typeface="Gotham Heavy"/>
                <a:sym typeface="Gotham Heavy"/>
              </a:rPr>
              <a:t>come this far</a:t>
            </a:r>
          </a:p>
        </p:txBody>
      </p:sp>
      <p:sp>
        <p:nvSpPr>
          <p:cNvPr name="TextBox 38" id="38"/>
          <p:cNvSpPr txBox="true"/>
          <p:nvPr/>
        </p:nvSpPr>
        <p:spPr>
          <a:xfrm rot="0">
            <a:off x="5731312" y="5666489"/>
            <a:ext cx="6825375" cy="421005"/>
          </a:xfrm>
          <a:prstGeom prst="rect">
            <a:avLst/>
          </a:prstGeom>
        </p:spPr>
        <p:txBody>
          <a:bodyPr anchor="t" rtlCol="false" tIns="0" lIns="0" bIns="0" rIns="0">
            <a:spAutoFit/>
          </a:bodyPr>
          <a:lstStyle/>
          <a:p>
            <a:pPr algn="ctr">
              <a:lnSpc>
                <a:spcPts val="3210"/>
              </a:lnSpc>
            </a:pPr>
            <a:r>
              <a:rPr lang="en-US" sz="3000">
                <a:solidFill>
                  <a:srgbClr val="FFFFFF"/>
                </a:solidFill>
                <a:latin typeface="Gotham"/>
                <a:ea typeface="Gotham"/>
                <a:cs typeface="Gotham"/>
                <a:sym typeface="Gotham"/>
              </a:rPr>
              <a:t>See you in the next section</a:t>
            </a:r>
          </a:p>
        </p:txBody>
      </p:sp>
      <p:grpSp>
        <p:nvGrpSpPr>
          <p:cNvPr name="Group 39" id="39"/>
          <p:cNvGrpSpPr/>
          <p:nvPr/>
        </p:nvGrpSpPr>
        <p:grpSpPr>
          <a:xfrm rot="0">
            <a:off x="1028681" y="9581970"/>
            <a:ext cx="16684631" cy="224790"/>
            <a:chOff x="0" y="0"/>
            <a:chExt cx="22246175" cy="299720"/>
          </a:xfrm>
        </p:grpSpPr>
        <p:sp>
          <p:nvSpPr>
            <p:cNvPr name="AutoShape 40" id="40"/>
            <p:cNvSpPr/>
            <p:nvPr/>
          </p:nvSpPr>
          <p:spPr>
            <a:xfrm flipV="true">
              <a:off x="25" y="149860"/>
              <a:ext cx="18493267" cy="73660"/>
            </a:xfrm>
            <a:prstGeom prst="line">
              <a:avLst/>
            </a:prstGeom>
            <a:ln cap="flat" w="12700">
              <a:solidFill>
                <a:srgbClr val="000000"/>
              </a:solidFill>
              <a:prstDash val="solid"/>
              <a:headEnd type="none" len="sm" w="sm"/>
              <a:tailEnd type="none" len="sm" w="sm"/>
            </a:ln>
          </p:spPr>
        </p:sp>
        <p:sp>
          <p:nvSpPr>
            <p:cNvPr name="TextBox 41" id="41"/>
            <p:cNvSpPr txBox="true"/>
            <p:nvPr/>
          </p:nvSpPr>
          <p:spPr>
            <a:xfrm rot="0">
              <a:off x="17864561" y="9525"/>
              <a:ext cx="4381614" cy="290195"/>
            </a:xfrm>
            <a:prstGeom prst="rect">
              <a:avLst/>
            </a:prstGeom>
          </p:spPr>
          <p:txBody>
            <a:bodyPr anchor="t" rtlCol="false" tIns="0" lIns="0" bIns="0" rIns="0">
              <a:spAutoFit/>
            </a:bodyPr>
            <a:lstStyle/>
            <a:p>
              <a:pPr algn="ctr">
                <a:lnSpc>
                  <a:spcPts val="1605"/>
                </a:lnSpc>
              </a:pPr>
              <a:r>
                <a:rPr lang="en-US" sz="1500">
                  <a:solidFill>
                    <a:srgbClr val="191919"/>
                  </a:solidFill>
                  <a:latin typeface="Gotham"/>
                  <a:ea typeface="Gotham"/>
                  <a:cs typeface="Gotham"/>
                  <a:sym typeface="Gotham"/>
                </a:rPr>
                <a:t>www.publicaai.com</a:t>
              </a:r>
            </a:p>
          </p:txBody>
        </p:sp>
      </p:grpSp>
      <p:sp>
        <p:nvSpPr>
          <p:cNvPr name="Freeform 42" id="42"/>
          <p:cNvSpPr/>
          <p:nvPr/>
        </p:nvSpPr>
        <p:spPr>
          <a:xfrm flipH="false" flipV="false" rot="0">
            <a:off x="800817" y="681343"/>
            <a:ext cx="1950366" cy="1701870"/>
          </a:xfrm>
          <a:custGeom>
            <a:avLst/>
            <a:gdLst/>
            <a:ahLst/>
            <a:cxnLst/>
            <a:rect r="r" b="b" t="t" l="l"/>
            <a:pathLst>
              <a:path h="1701870" w="1950366">
                <a:moveTo>
                  <a:pt x="0" y="0"/>
                </a:moveTo>
                <a:lnTo>
                  <a:pt x="1950366" y="0"/>
                </a:lnTo>
                <a:lnTo>
                  <a:pt x="1950366" y="1701870"/>
                </a:lnTo>
                <a:lnTo>
                  <a:pt x="0" y="1701870"/>
                </a:lnTo>
                <a:lnTo>
                  <a:pt x="0" y="0"/>
                </a:lnTo>
                <a:close/>
              </a:path>
            </a:pathLst>
          </a:custGeom>
          <a:blipFill>
            <a:blip r:embed="rId5"/>
            <a:stretch>
              <a:fillRect l="-80" t="0" r="-6002" b="-5679"/>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DAG7L2iJnRU</dc:identifier>
  <dcterms:modified xsi:type="dcterms:W3CDTF">2011-08-01T06:04:30Z</dcterms:modified>
  <cp:revision>1</cp:revision>
  <dc:title>Advanced (RAG)</dc:title>
</cp:coreProperties>
</file>